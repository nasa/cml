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8" r:id="rId11"/>
    <p:sldId id="264" r:id="rId12"/>
    <p:sldId id="265" r:id="rId13"/>
    <p:sldId id="266" r:id="rId14"/>
    <p:sldId id="267" r:id="rId15"/>
  </p:sldIdLst>
  <p:sldSz cx="10077450" cy="5668963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>
        <p:scale>
          <a:sx n="125" d="100"/>
          <a:sy n="125" d="100"/>
        </p:scale>
        <p:origin x="2448" y="14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92560" y="829080"/>
            <a:ext cx="7446960" cy="409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3950" b="0" strike="noStrike" spc="-1">
                <a:latin typeface="Arial"/>
              </a:rPr>
              <a:t>Click to move the slide</a:t>
            </a: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863280" y="5183280"/>
            <a:ext cx="6905880" cy="491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287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9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746160" cy="54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93" name="PlaceHolder 4"/>
          <p:cNvSpPr>
            <a:spLocks noGrp="1"/>
          </p:cNvSpPr>
          <p:nvPr>
            <p:ph type="dt"/>
          </p:nvPr>
        </p:nvSpPr>
        <p:spPr>
          <a:xfrm>
            <a:off x="4885920" y="0"/>
            <a:ext cx="3746160" cy="54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buNone/>
            </a:pPr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94" name="PlaceHolder 5"/>
          <p:cNvSpPr>
            <a:spLocks noGrp="1"/>
          </p:cNvSpPr>
          <p:nvPr>
            <p:ph type="ftr"/>
          </p:nvPr>
        </p:nvSpPr>
        <p:spPr>
          <a:xfrm>
            <a:off x="0" y="10366920"/>
            <a:ext cx="3746160" cy="54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95" name="PlaceHolder 6"/>
          <p:cNvSpPr>
            <a:spLocks noGrp="1"/>
          </p:cNvSpPr>
          <p:nvPr>
            <p:ph type="sldNum"/>
          </p:nvPr>
        </p:nvSpPr>
        <p:spPr>
          <a:xfrm>
            <a:off x="4885920" y="10366920"/>
            <a:ext cx="3746160" cy="54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buNone/>
            </a:pPr>
            <a:fld id="{31C97FCD-0B7D-48EB-B144-F2E92E5975D0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ustomShape 1"/>
          <p:cNvSpPr/>
          <p:nvPr/>
        </p:nvSpPr>
        <p:spPr>
          <a:xfrm>
            <a:off x="4402800" y="9553680"/>
            <a:ext cx="3346920" cy="48240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2880" tIns="46440" rIns="92880" bIns="46440" anchor="b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8064F1FE-B692-45B1-84E4-F7702D56A966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122" name="PlaceHolder 1"/>
          <p:cNvSpPr>
            <a:spLocks noGrp="1"/>
          </p:cNvSpPr>
          <p:nvPr>
            <p:ph type="body"/>
          </p:nvPr>
        </p:nvSpPr>
        <p:spPr>
          <a:xfrm>
            <a:off x="777600" y="4777560"/>
            <a:ext cx="6196320" cy="4505760"/>
          </a:xfrm>
          <a:prstGeom prst="rect">
            <a:avLst/>
          </a:prstGeom>
          <a:noFill/>
          <a:ln w="0">
            <a:noFill/>
          </a:ln>
        </p:spPr>
        <p:txBody>
          <a:bodyPr lIns="92880" tIns="46440" rIns="92880" bIns="46440" anchor="t">
            <a:noAutofit/>
          </a:bodyPr>
          <a:lstStyle/>
          <a:p>
            <a:endParaRPr lang="en-US" sz="287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1188000" y="91080"/>
            <a:ext cx="7769880" cy="2120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18252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510084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182520" y="3106800"/>
            <a:ext cx="95979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182520" y="3106800"/>
            <a:ext cx="95979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18252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510084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3427560" y="100548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6672960" y="100548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182520" y="310680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/>
          </p:nvPr>
        </p:nvSpPr>
        <p:spPr>
          <a:xfrm>
            <a:off x="3427560" y="310680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/>
          </p:nvPr>
        </p:nvSpPr>
        <p:spPr>
          <a:xfrm>
            <a:off x="6672960" y="310680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ubTitle"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ubTitle"/>
          </p:nvPr>
        </p:nvSpPr>
        <p:spPr>
          <a:xfrm>
            <a:off x="1188000" y="91080"/>
            <a:ext cx="7769880" cy="2120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18252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510084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182520" y="3106800"/>
            <a:ext cx="95979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182520" y="3106800"/>
            <a:ext cx="95979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18252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/>
          </p:nvPr>
        </p:nvSpPr>
        <p:spPr>
          <a:xfrm>
            <a:off x="510084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3427560" y="100548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/>
          </p:nvPr>
        </p:nvSpPr>
        <p:spPr>
          <a:xfrm>
            <a:off x="6672960" y="100548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/>
          </p:nvPr>
        </p:nvSpPr>
        <p:spPr>
          <a:xfrm>
            <a:off x="182520" y="310680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/>
          </p:nvPr>
        </p:nvSpPr>
        <p:spPr>
          <a:xfrm>
            <a:off x="3427560" y="310680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9" name="PlaceHolder 7"/>
          <p:cNvSpPr>
            <a:spLocks noGrp="1"/>
          </p:cNvSpPr>
          <p:nvPr>
            <p:ph/>
          </p:nvPr>
        </p:nvSpPr>
        <p:spPr>
          <a:xfrm>
            <a:off x="6672960" y="310680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Click to edit the outline text format</a:t>
            </a:r>
          </a:p>
          <a:p>
            <a:pPr marL="882900" lvl="1" indent="-342900">
              <a:buClr>
                <a:srgbClr val="000000"/>
              </a:buClr>
              <a:buSzPct val="75000"/>
            </a:pPr>
            <a:r>
              <a:rPr lang="en-US" sz="1800" b="0" strike="noStrike" spc="-1" dirty="0">
                <a:latin typeface="Times New Roman"/>
              </a:rPr>
              <a:t>Second Outline Level</a:t>
            </a:r>
          </a:p>
          <a:p>
            <a:pPr marL="1485900" lvl="2" indent="-342900">
              <a:buClr>
                <a:srgbClr val="000000"/>
              </a:buClr>
              <a:buSzPct val="75000"/>
            </a:pPr>
            <a:r>
              <a:rPr lang="en-US" sz="1800" b="0" strike="noStrike" spc="-1" dirty="0">
                <a:latin typeface="Times New Roman"/>
              </a:rPr>
              <a:t>Third Outline Level</a:t>
            </a:r>
          </a:p>
          <a:p>
            <a:pPr marL="1943100" lvl="3" indent="-342900">
              <a:buClr>
                <a:srgbClr val="000000"/>
              </a:buClr>
              <a:buSzPct val="75000"/>
            </a:pPr>
            <a:r>
              <a:rPr lang="en-US" sz="1800" b="0" strike="noStrike" spc="-1" dirty="0">
                <a:latin typeface="Times New Roman"/>
              </a:rPr>
              <a:t>Fourth Outline Level</a:t>
            </a:r>
          </a:p>
          <a:p>
            <a:pPr marL="1485900" lvl="2" indent="-342900">
              <a:buClr>
                <a:srgbClr val="000000"/>
              </a:buClr>
              <a:buSzPct val="75000"/>
            </a:pPr>
            <a:endParaRPr lang="en-US" sz="1800" b="0" strike="noStrike" spc="-1" dirty="0"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endParaRPr lang="en-US" sz="1400" b="0" i="1" strike="noStrike" spc="-1" dirty="0">
              <a:latin typeface="Times New Roman"/>
            </a:endParaRPr>
          </a:p>
        </p:txBody>
      </p:sp>
      <p:sp>
        <p:nvSpPr>
          <p:cNvPr id="2" name="CustomShape 3"/>
          <p:cNvSpPr/>
          <p:nvPr/>
        </p:nvSpPr>
        <p:spPr>
          <a:xfrm>
            <a:off x="360" y="639720"/>
            <a:ext cx="10046880" cy="25236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100000">
                <a:srgbClr val="21409A"/>
              </a:gs>
            </a:gsLst>
            <a:lin ang="0"/>
          </a:gradFill>
          <a:ln w="6480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" name="Picture 35"/>
          <p:cNvPicPr/>
          <p:nvPr/>
        </p:nvPicPr>
        <p:blipFill>
          <a:blip r:embed="rId14"/>
          <a:stretch/>
        </p:blipFill>
        <p:spPr>
          <a:xfrm>
            <a:off x="9141120" y="0"/>
            <a:ext cx="914400" cy="733680"/>
          </a:xfrm>
          <a:prstGeom prst="rect">
            <a:avLst/>
          </a:prstGeom>
          <a:ln w="9360">
            <a:noFill/>
          </a:ln>
        </p:spPr>
      </p:pic>
      <p:pic>
        <p:nvPicPr>
          <p:cNvPr id="4" name="Picture 24"/>
          <p:cNvPicPr/>
          <p:nvPr/>
        </p:nvPicPr>
        <p:blipFill>
          <a:blip r:embed="rId15"/>
          <a:stretch/>
        </p:blipFill>
        <p:spPr>
          <a:xfrm>
            <a:off x="91080" y="18360"/>
            <a:ext cx="840600" cy="713160"/>
          </a:xfrm>
          <a:prstGeom prst="rect">
            <a:avLst/>
          </a:prstGeom>
          <a:ln w="9360"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91080" y="5485680"/>
            <a:ext cx="4570560" cy="1836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100" b="1" strike="noStrike" spc="-1" dirty="0">
                <a:latin typeface="Times New Roman"/>
              </a:rPr>
              <a:t>Verification Presentation for </a:t>
            </a:r>
            <a:r>
              <a:rPr lang="en-US" sz="1100" b="1" strike="noStrike" spc="-1" dirty="0">
                <a:solidFill>
                  <a:schemeClr val="tx1"/>
                </a:solidFill>
                <a:latin typeface="Times New Roman"/>
              </a:rPr>
              <a:t>CML Vent </a:t>
            </a:r>
            <a:r>
              <a:rPr lang="en-US" sz="1100" b="1" strike="noStrike" spc="-1" dirty="0">
                <a:latin typeface="Times New Roman"/>
              </a:rPr>
              <a:t>– Alexandre Masset</a:t>
            </a:r>
            <a:endParaRPr lang="en-US" sz="1100" b="0" strike="noStrike" spc="-1" dirty="0">
              <a:latin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87680" y="5485680"/>
            <a:ext cx="5576040" cy="1836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buNone/>
            </a:pPr>
            <a:r>
              <a:rPr lang="en-US" sz="1100" b="1" strike="noStrike" spc="-1" dirty="0">
                <a:latin typeface="Times New Roman"/>
              </a:rPr>
              <a:t>Slide </a:t>
            </a:r>
            <a:fld id="{FCD10905-8E8B-4818-8309-30653CDF43A3}" type="slidenum">
              <a:rPr lang="en-US" sz="1100" b="1" strike="noStrike" spc="-1">
                <a:latin typeface="Times New Roman"/>
              </a:rPr>
              <a:t>‹#›</a:t>
            </a:fld>
            <a:r>
              <a:rPr lang="en-US" sz="1100" b="1" strike="noStrike" spc="-1" dirty="0">
                <a:latin typeface="Times New Roman"/>
              </a:rPr>
              <a:t> of 12</a:t>
            </a:r>
            <a:endParaRPr lang="en-US" sz="1100" b="0" strike="noStrike" spc="-1" dirty="0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0000" indent="0" algn="l" defTabSz="914400" rtl="0" eaLnBrk="1" latinLnBrk="0" hangingPunct="1">
        <a:lnSpc>
          <a:spcPct val="90000"/>
        </a:lnSpc>
        <a:spcBef>
          <a:spcPts val="500"/>
        </a:spcBef>
        <a:buSzPct val="50000"/>
        <a:buFont typeface="Wingdings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SzPct val="50000"/>
        <a:buFont typeface="Wingdings" pitchFamily="2" charset="2"/>
        <a:buChar char="§"/>
        <a:defRPr sz="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35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093750" indent="-28575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stomShape 1" hidden="1"/>
          <p:cNvSpPr/>
          <p:nvPr/>
        </p:nvSpPr>
        <p:spPr>
          <a:xfrm>
            <a:off x="4426200" y="5469840"/>
            <a:ext cx="1060200" cy="982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900" b="1" i="1" strike="noStrike" spc="-1">
                <a:solidFill>
                  <a:srgbClr val="FFFFFF"/>
                </a:solidFill>
                <a:latin typeface="Arial"/>
                <a:ea typeface="ＭＳ Ｐゴシック"/>
              </a:rPr>
              <a:t>Page </a:t>
            </a:r>
            <a:fld id="{3409D930-2287-41B3-921B-0387F4C9F349}" type="slidenum">
              <a:rPr lang="en-US" sz="900" b="1" i="1" strike="noStrike" spc="-1">
                <a:solidFill>
                  <a:srgbClr val="FFFFFF"/>
                </a:solidFill>
                <a:latin typeface="Arial"/>
                <a:ea typeface="ＭＳ Ｐゴシック"/>
              </a:rPr>
              <a:t>‹#›</a:t>
            </a:fld>
            <a:endParaRPr lang="en-US" sz="900" b="0" strike="noStrike" spc="-1">
              <a:latin typeface="Arial"/>
            </a:endParaRPr>
          </a:p>
        </p:txBody>
      </p:sp>
      <p:sp>
        <p:nvSpPr>
          <p:cNvPr id="44" name="CustomShape 2" hidden="1"/>
          <p:cNvSpPr/>
          <p:nvPr/>
        </p:nvSpPr>
        <p:spPr>
          <a:xfrm>
            <a:off x="24120" y="5490360"/>
            <a:ext cx="4096800" cy="17280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900" b="1" i="1" strike="noStrike" spc="-1">
                <a:solidFill>
                  <a:srgbClr val="FFFFFF"/>
                </a:solidFill>
                <a:latin typeface="Arial"/>
                <a:ea typeface="ＭＳ Ｐゴシック"/>
              </a:rPr>
              <a:t>ANTARES Model V&amp;V – &lt;Model Name&gt; – &lt;Team&gt;– &lt;Sim Version&gt;</a:t>
            </a:r>
            <a:endParaRPr lang="en-US" sz="900" b="0" strike="noStrike" spc="-1">
              <a:latin typeface="Arial"/>
            </a:endParaRPr>
          </a:p>
        </p:txBody>
      </p:sp>
      <p:sp>
        <p:nvSpPr>
          <p:cNvPr id="45" name="CustomShape 3" hidden="1"/>
          <p:cNvSpPr/>
          <p:nvPr/>
        </p:nvSpPr>
        <p:spPr>
          <a:xfrm>
            <a:off x="360" y="637200"/>
            <a:ext cx="10046880" cy="25236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100000">
                <a:srgbClr val="0A128C"/>
              </a:gs>
            </a:gsLst>
            <a:lin ang="0"/>
          </a:gradFill>
          <a:ln w="6480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" name="CustomShape 4" hidden="1"/>
          <p:cNvSpPr/>
          <p:nvPr/>
        </p:nvSpPr>
        <p:spPr>
          <a:xfrm>
            <a:off x="8105400" y="659520"/>
            <a:ext cx="1243800" cy="210240"/>
          </a:xfrm>
          <a:prstGeom prst="rect">
            <a:avLst/>
          </a:prstGeom>
          <a:noFill/>
          <a:ln w="648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b="1" i="1" strike="noStrike" spc="-1">
                <a:solidFill>
                  <a:srgbClr val="000000"/>
                </a:solidFill>
                <a:latin typeface="Arial"/>
                <a:ea typeface="ＭＳ Ｐゴシック"/>
              </a:rPr>
              <a:t>Orion Project</a:t>
            </a:r>
            <a:endParaRPr lang="en-US" sz="1200" b="0" strike="noStrike" spc="-1">
              <a:latin typeface="Arial"/>
            </a:endParaRPr>
          </a:p>
        </p:txBody>
      </p:sp>
      <p:pic>
        <p:nvPicPr>
          <p:cNvPr id="47" name="Picture 24"/>
          <p:cNvPicPr/>
          <p:nvPr/>
        </p:nvPicPr>
        <p:blipFill>
          <a:blip r:embed="rId14"/>
          <a:stretch/>
        </p:blipFill>
        <p:spPr>
          <a:xfrm>
            <a:off x="72720" y="18000"/>
            <a:ext cx="1112760" cy="700920"/>
          </a:xfrm>
          <a:prstGeom prst="rect">
            <a:avLst/>
          </a:prstGeom>
          <a:ln w="9360">
            <a:noFill/>
          </a:ln>
        </p:spPr>
      </p:pic>
      <p:pic>
        <p:nvPicPr>
          <p:cNvPr id="48" name="Picture 35"/>
          <p:cNvPicPr/>
          <p:nvPr/>
        </p:nvPicPr>
        <p:blipFill>
          <a:blip r:embed="rId15"/>
          <a:stretch/>
        </p:blipFill>
        <p:spPr>
          <a:xfrm>
            <a:off x="8939520" y="0"/>
            <a:ext cx="1116000" cy="733680"/>
          </a:xfrm>
          <a:prstGeom prst="rect">
            <a:avLst/>
          </a:prstGeom>
          <a:ln w="9360">
            <a:noFill/>
          </a:ln>
        </p:spPr>
      </p:pic>
      <p:pic>
        <p:nvPicPr>
          <p:cNvPr id="49" name="Picture 4"/>
          <p:cNvPicPr/>
          <p:nvPr/>
        </p:nvPicPr>
        <p:blipFill>
          <a:blip r:embed="rId16"/>
          <a:stretch/>
        </p:blipFill>
        <p:spPr>
          <a:xfrm>
            <a:off x="0" y="0"/>
            <a:ext cx="10055880" cy="5653440"/>
          </a:xfrm>
          <a:prstGeom prst="rect">
            <a:avLst/>
          </a:prstGeom>
          <a:ln w="0">
            <a:noFill/>
          </a:ln>
        </p:spPr>
      </p:pic>
      <p:pic>
        <p:nvPicPr>
          <p:cNvPr id="50" name="Picture 34"/>
          <p:cNvPicPr/>
          <p:nvPr/>
        </p:nvPicPr>
        <p:blipFill>
          <a:blip r:embed="rId14"/>
          <a:stretch/>
        </p:blipFill>
        <p:spPr>
          <a:xfrm>
            <a:off x="213120" y="143640"/>
            <a:ext cx="1112760" cy="861840"/>
          </a:xfrm>
          <a:prstGeom prst="rect">
            <a:avLst/>
          </a:prstGeom>
          <a:ln w="9360">
            <a:noFill/>
          </a:ln>
        </p:spPr>
      </p:pic>
      <p:pic>
        <p:nvPicPr>
          <p:cNvPr id="51" name="Picture 35"/>
          <p:cNvPicPr/>
          <p:nvPr/>
        </p:nvPicPr>
        <p:blipFill>
          <a:blip r:embed="rId15"/>
          <a:stretch/>
        </p:blipFill>
        <p:spPr>
          <a:xfrm>
            <a:off x="209520" y="3341880"/>
            <a:ext cx="1116000" cy="733680"/>
          </a:xfrm>
          <a:prstGeom prst="rect">
            <a:avLst/>
          </a:prstGeom>
          <a:ln w="9360">
            <a:noFill/>
          </a:ln>
        </p:spPr>
      </p:pic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395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503640" y="1325880"/>
            <a:ext cx="90687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168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5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933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32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69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99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4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66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3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6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3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6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3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6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CustomShape 1"/>
          <p:cNvSpPr/>
          <p:nvPr/>
        </p:nvSpPr>
        <p:spPr>
          <a:xfrm>
            <a:off x="1427040" y="1033920"/>
            <a:ext cx="7580160" cy="41184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strike="noStrike" spc="-1" dirty="0">
                <a:solidFill>
                  <a:srgbClr val="FFFFFF"/>
                </a:solidFill>
                <a:latin typeface="Arial"/>
                <a:ea typeface="ＭＳ Ｐゴシック"/>
              </a:rPr>
              <a:t>V&amp;V Results for CML Vent Model (delta)</a:t>
            </a:r>
            <a:endParaRPr lang="en-US" sz="2800" b="0" strike="noStrike" spc="-1" dirty="0">
              <a:latin typeface="Arial"/>
            </a:endParaRPr>
          </a:p>
        </p:txBody>
      </p:sp>
      <p:sp>
        <p:nvSpPr>
          <p:cNvPr id="97" name="CustomShape 2"/>
          <p:cNvSpPr/>
          <p:nvPr/>
        </p:nvSpPr>
        <p:spPr>
          <a:xfrm>
            <a:off x="2717640" y="4399200"/>
            <a:ext cx="7157520" cy="813960"/>
          </a:xfrm>
          <a:prstGeom prst="rect">
            <a:avLst/>
          </a:prstGeom>
          <a:solidFill>
            <a:srgbClr val="EEECE1">
              <a:alpha val="50000"/>
            </a:srgbClr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500" b="1" strike="noStrike" spc="-1" dirty="0">
                <a:solidFill>
                  <a:srgbClr val="FFFFFF"/>
                </a:solidFill>
                <a:latin typeface="Arial"/>
                <a:ea typeface="ＭＳ Ｐゴシック"/>
              </a:rPr>
              <a:t>Alexandre Masset</a:t>
            </a:r>
            <a:endParaRPr lang="en-US" sz="1500" b="0" strike="noStrike" spc="-1" dirty="0">
              <a:solidFill>
                <a:srgbClr val="C9211E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500" b="1" strike="noStrike" spc="-1" dirty="0">
                <a:solidFill>
                  <a:schemeClr val="bg1"/>
                </a:solidFill>
                <a:latin typeface="Arial"/>
                <a:ea typeface="ＭＳ Ｐゴシック"/>
              </a:rPr>
              <a:t>Organization (</a:t>
            </a:r>
            <a:r>
              <a:rPr lang="en-US" sz="1500" b="1" strike="noStrike" spc="-1" dirty="0">
                <a:solidFill>
                  <a:srgbClr val="FFFFFF"/>
                </a:solidFill>
                <a:latin typeface="Arial"/>
                <a:ea typeface="ＭＳ Ｐゴシック"/>
              </a:rPr>
              <a:t>Odyssey Space Research)</a:t>
            </a:r>
            <a:endParaRPr lang="en-US" sz="1500" b="0" strike="noStrike" spc="-1" dirty="0">
              <a:solidFill>
                <a:srgbClr val="C9211E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500" b="1" strike="noStrike" spc="-1" dirty="0">
                <a:solidFill>
                  <a:srgbClr val="FFFFFF"/>
                </a:solidFill>
                <a:latin typeface="Arial"/>
                <a:ea typeface="ＭＳ Ｐゴシック"/>
              </a:rPr>
              <a:t>Date: </a:t>
            </a:r>
            <a:fld id="{15A66493-A20E-4807-87CB-3450BAC0E276}" type="datetime">
              <a:rPr lang="en-US" sz="1500" b="1" strike="noStrike" spc="-1" smtClean="0">
                <a:solidFill>
                  <a:srgbClr val="FFFFFF"/>
                </a:solidFill>
                <a:latin typeface="Arial"/>
                <a:ea typeface="ＭＳ Ｐゴシック"/>
              </a:rPr>
              <a:t>11/13/2025</a:t>
            </a:fld>
            <a:r>
              <a:rPr lang="en-US" sz="1500" b="1" strike="noStrike" spc="-1" dirty="0">
                <a:solidFill>
                  <a:srgbClr val="FFFFFF"/>
                </a:solidFill>
                <a:latin typeface="Arial"/>
                <a:ea typeface="ＭＳ Ｐゴシック"/>
              </a:rPr>
              <a:t> (version 1) –  </a:t>
            </a:r>
            <a:fld id="{828B8B43-DAEA-4298-8040-BA23F5AF6FBD}" type="datetime">
              <a:rPr lang="en-US" sz="1500" b="1" strike="noStrike" spc="-1" smtClean="0">
                <a:solidFill>
                  <a:srgbClr val="FFFFFF"/>
                </a:solidFill>
                <a:latin typeface="Arial"/>
                <a:ea typeface="ＭＳ Ｐゴシック"/>
              </a:rPr>
              <a:t>11/13/2025</a:t>
            </a:fld>
            <a:r>
              <a:rPr lang="en-US" sz="1500" b="1" strike="noStrike" spc="-1" dirty="0">
                <a:solidFill>
                  <a:srgbClr val="FFFFFF"/>
                </a:solidFill>
                <a:latin typeface="Arial"/>
                <a:ea typeface="ＭＳ Ｐゴシック"/>
              </a:rPr>
              <a:t> (latest)</a:t>
            </a:r>
            <a:endParaRPr lang="en-US" sz="1500" b="0" strike="noStrike" spc="-1" dirty="0">
              <a:solidFill>
                <a:srgbClr val="C9211E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US" sz="1500" b="0" strike="noStrike" spc="-1" dirty="0">
              <a:solidFill>
                <a:srgbClr val="C9211E"/>
              </a:solidFill>
              <a:latin typeface="Arial"/>
            </a:endParaRPr>
          </a:p>
        </p:txBody>
      </p:sp>
      <p:sp>
        <p:nvSpPr>
          <p:cNvPr id="98" name="CustomShape 3"/>
          <p:cNvSpPr/>
          <p:nvPr/>
        </p:nvSpPr>
        <p:spPr>
          <a:xfrm>
            <a:off x="136800" y="4399200"/>
            <a:ext cx="2559600" cy="813960"/>
          </a:xfrm>
          <a:prstGeom prst="rect">
            <a:avLst/>
          </a:prstGeom>
          <a:solidFill>
            <a:srgbClr val="EEECE1">
              <a:alpha val="50000"/>
            </a:srgbClr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500" b="1" strike="noStrike" spc="-1">
                <a:solidFill>
                  <a:srgbClr val="FFFFFF"/>
                </a:solidFill>
                <a:latin typeface="Arial"/>
                <a:ea typeface="ＭＳ Ｐゴシック"/>
              </a:rPr>
              <a:t>ANTARES Artemis 2</a:t>
            </a:r>
            <a:endParaRPr lang="en-US" sz="15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500" b="1" strike="noStrike" spc="-1">
                <a:solidFill>
                  <a:srgbClr val="FFFFFF"/>
                </a:solidFill>
                <a:latin typeface="Arial"/>
                <a:ea typeface="ＭＳ Ｐゴシック"/>
              </a:rPr>
              <a:t>Model V&amp;V</a:t>
            </a:r>
            <a:endParaRPr lang="en-US" sz="15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US" sz="15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188000" y="135000"/>
            <a:ext cx="7769880" cy="36936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Outline</a:t>
            </a: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182520" y="914040"/>
            <a:ext cx="9389880" cy="4479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Purpose and Use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Assumptions and Limitations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Antares Project Status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Location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Associated Merge Requests and Commit Hashes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Inheritance and Dependencies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Model Inventory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Code Review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Coding Standards Compliance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Architecture Review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Code Coverage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Verification / Validation Test Descriptions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Follow-on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188000" y="135000"/>
            <a:ext cx="7769880" cy="36936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Model Purpose and Use</a:t>
            </a: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Purpose: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 Model the forces and torques imparted by any number of vents on a dynamic body</a:t>
            </a:r>
            <a:r>
              <a:rPr lang="en-US" spc="-1" dirty="0">
                <a:latin typeface="Times New Roman"/>
              </a:rPr>
              <a:t>.</a:t>
            </a:r>
            <a:endParaRPr lang="en-US" sz="1800" b="0" strike="noStrike" spc="-1" dirty="0">
              <a:latin typeface="Times New Roman"/>
            </a:endParaRP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Models Using this Model:</a:t>
            </a:r>
            <a:endParaRPr lang="en-US" sz="1800" b="0" strike="noStrike" spc="-1" dirty="0"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pc="-1" dirty="0">
                <a:latin typeface="Times New Roman"/>
              </a:rPr>
              <a:t>CEV</a:t>
            </a:r>
            <a:endParaRPr lang="en-US" sz="1800" b="0" strike="noStrike" spc="-1" dirty="0">
              <a:latin typeface="Times New Roman"/>
            </a:endParaRPr>
          </a:p>
          <a:p>
            <a:pPr marL="1296000" lvl="2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600" spc="-1" dirty="0">
                <a:latin typeface="Times New Roman"/>
              </a:rPr>
              <a:t>Ammonia vent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600" b="0" strike="noStrike" spc="-1" dirty="0">
                <a:latin typeface="Times New Roman"/>
              </a:rPr>
              <a:t>PSA vent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600" spc="-1" dirty="0">
                <a:latin typeface="Times New Roman"/>
              </a:rPr>
              <a:t>Urine vent</a:t>
            </a:r>
            <a:endParaRPr lang="en-US" sz="1600" b="0" strike="noStrike" spc="-1" dirty="0">
              <a:latin typeface="Times New Roman"/>
            </a:endParaRPr>
          </a:p>
          <a:p>
            <a:pPr marL="864000" lvl="2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endParaRPr lang="en-US" b="0" strike="noStrike" spc="-1" dirty="0">
              <a:latin typeface="Times New Roman"/>
            </a:endParaRP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Assumptions and Limitations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solidFill>
                  <a:schemeClr val="tx1"/>
                </a:solidFill>
                <a:latin typeface="Times New Roman"/>
              </a:rPr>
              <a:t>Because the model is provided with a mass-derivative rate, it must use a time step to convert that derivative into a mass demand. Therefore, </a:t>
            </a:r>
            <a:r>
              <a:rPr lang="en-US" spc="-1" dirty="0">
                <a:solidFill>
                  <a:schemeClr val="tx1"/>
                </a:solidFill>
                <a:latin typeface="Times New Roman"/>
              </a:rPr>
              <a:t>the discrete mass demand of a vent onto a dynamic-mass body is placed post-integration rather than pre-integration to avoid any issue with the first time step. </a:t>
            </a:r>
            <a:endParaRPr lang="en-US" sz="1800" b="0" strike="noStrike" spc="-1" dirty="0">
              <a:solidFill>
                <a:schemeClr val="tx1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188000" y="135000"/>
            <a:ext cx="7769880" cy="36936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Antares Project Status</a:t>
            </a: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Antares Requirements, Sections </a:t>
            </a:r>
            <a:r>
              <a:rPr lang="en-US" sz="2200" spc="-1" dirty="0">
                <a:latin typeface="Times New Roman"/>
              </a:rPr>
              <a:t>F.1.2 and F.1.4</a:t>
            </a:r>
            <a:endParaRPr lang="en-US" sz="2200" b="0" strike="noStrike" spc="-1" dirty="0">
              <a:latin typeface="Times New Roman"/>
            </a:endParaRP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Model Locations: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 cml/models/</a:t>
            </a:r>
            <a:r>
              <a:rPr lang="en-US" sz="1800" b="0" strike="noStrike" spc="-1" dirty="0" err="1">
                <a:latin typeface="Times New Roman"/>
              </a:rPr>
              <a:t>fhw</a:t>
            </a:r>
            <a:r>
              <a:rPr lang="en-US" sz="1800" b="0" strike="noStrike" spc="-1" dirty="0">
                <a:latin typeface="Times New Roman"/>
              </a:rPr>
              <a:t>/effectors/vent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endParaRPr lang="en-US" sz="1800" b="0" strike="noStrike" spc="-1" dirty="0">
              <a:latin typeface="Times New Roman"/>
            </a:endParaRP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Recent Merge Requests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 ! </a:t>
            </a:r>
            <a:r>
              <a:rPr lang="en-US" sz="1800" b="0" strike="noStrike" spc="-1" dirty="0">
                <a:solidFill>
                  <a:srgbClr val="00B0F0"/>
                </a:solidFill>
                <a:latin typeface="Times New Roman"/>
              </a:rPr>
              <a:t>7426</a:t>
            </a:r>
            <a:r>
              <a:rPr lang="en-US" sz="1800" b="0" strike="noStrike" spc="-1" dirty="0">
                <a:latin typeface="Times New Roman"/>
              </a:rPr>
              <a:t> (V&amp;V)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 ! </a:t>
            </a:r>
            <a:r>
              <a:rPr lang="en-US" sz="1800" b="0" strike="noStrike" spc="-1" dirty="0">
                <a:solidFill>
                  <a:srgbClr val="00B0F0"/>
                </a:solidFill>
                <a:latin typeface="Times New Roman"/>
              </a:rPr>
              <a:t>6771</a:t>
            </a:r>
            <a:r>
              <a:rPr lang="en-US" sz="1800" b="0" strike="noStrike" spc="-1" dirty="0">
                <a:latin typeface="Times New Roman"/>
              </a:rPr>
              <a:t> (Compiler warnings cleanup)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 ! </a:t>
            </a:r>
            <a:r>
              <a:rPr lang="en-US" sz="1800" b="0" strike="noStrike" spc="-1" dirty="0">
                <a:solidFill>
                  <a:srgbClr val="00B0F0"/>
                </a:solidFill>
                <a:latin typeface="Times New Roman"/>
              </a:rPr>
              <a:t>6758</a:t>
            </a:r>
            <a:r>
              <a:rPr lang="en-US" sz="1800" b="0" strike="noStrike" spc="-1" dirty="0">
                <a:latin typeface="Times New Roman"/>
              </a:rPr>
              <a:t> (CML Message)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 ! </a:t>
            </a:r>
            <a:r>
              <a:rPr lang="en-US" sz="1800" b="0" strike="noStrike" spc="-1" dirty="0">
                <a:solidFill>
                  <a:srgbClr val="00B0F0"/>
                </a:solidFill>
                <a:latin typeface="Times New Roman"/>
              </a:rPr>
              <a:t>6647</a:t>
            </a:r>
            <a:r>
              <a:rPr lang="en-US" sz="1800" b="0" strike="noStrike" spc="-1" dirty="0">
                <a:latin typeface="Times New Roman"/>
              </a:rPr>
              <a:t> (</a:t>
            </a:r>
            <a:r>
              <a:rPr lang="en-US" sz="1800" b="0" strike="noStrike" spc="-1" dirty="0" err="1">
                <a:latin typeface="Times New Roman"/>
              </a:rPr>
              <a:t>CPPcheck</a:t>
            </a:r>
            <a:r>
              <a:rPr lang="en-US" sz="1800" b="0" strike="noStrike" spc="-1" dirty="0">
                <a:latin typeface="Times New Roman"/>
              </a:rPr>
              <a:t> cleanup)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 ! </a:t>
            </a:r>
            <a:r>
              <a:rPr lang="en-US" sz="1800" b="0" strike="noStrike" spc="-1" dirty="0">
                <a:solidFill>
                  <a:srgbClr val="00B0F0"/>
                </a:solidFill>
                <a:latin typeface="Times New Roman"/>
              </a:rPr>
              <a:t>5678</a:t>
            </a:r>
            <a:r>
              <a:rPr lang="en-US" sz="1800" b="0" strike="noStrike" spc="-1" dirty="0">
                <a:latin typeface="Times New Roman"/>
              </a:rPr>
              <a:t> (CML Vents update to support new CEV vents)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endParaRPr lang="en-US" sz="1800" b="0" strike="noStrike" spc="-1" dirty="0">
              <a:latin typeface="Times New Roman"/>
            </a:endParaRP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Most Recent Commit Hash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solidFill>
                  <a:srgbClr val="00B0F0"/>
                </a:solidFill>
                <a:latin typeface="Times New Roman"/>
              </a:rPr>
              <a:t>fb8705fb419535c505a4bde9f958cbd37b9805a2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188000" y="135000"/>
            <a:ext cx="7769880" cy="36936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Code Inheritance and Dependencies</a:t>
            </a: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Code Inheritance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pc="-1" dirty="0">
                <a:solidFill>
                  <a:srgbClr val="000000"/>
                </a:solidFill>
                <a:latin typeface="Times New Roman"/>
              </a:rPr>
              <a:t>N/A</a:t>
            </a:r>
            <a:endParaRPr lang="en-US" sz="1800" b="0" strike="noStrike" spc="-1" dirty="0">
              <a:latin typeface="Times New Roman"/>
            </a:endParaRP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Code Dependencies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solidFill>
                  <a:schemeClr val="tx1"/>
                </a:solidFill>
                <a:latin typeface="Times New Roman"/>
              </a:rPr>
              <a:t> CML Message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pc="-1" dirty="0">
                <a:solidFill>
                  <a:schemeClr val="tx1"/>
                </a:solidFill>
                <a:latin typeface="Times New Roman"/>
              </a:rPr>
              <a:t> CML Subscriptions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pc="-1" dirty="0">
                <a:solidFill>
                  <a:schemeClr val="tx1"/>
                </a:solidFill>
                <a:latin typeface="Times New Roman"/>
              </a:rPr>
              <a:t> CML </a:t>
            </a:r>
            <a:r>
              <a:rPr lang="en-US" spc="-1" dirty="0" err="1">
                <a:solidFill>
                  <a:schemeClr val="tx1"/>
                </a:solidFill>
                <a:latin typeface="Times New Roman"/>
              </a:rPr>
              <a:t>MathUtils</a:t>
            </a:r>
            <a:endParaRPr lang="en-US" spc="-1" dirty="0">
              <a:solidFill>
                <a:schemeClr val="tx1"/>
              </a:solidFill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pc="-1" dirty="0">
                <a:solidFill>
                  <a:srgbClr val="C00000"/>
                </a:solidFill>
                <a:latin typeface="Times New Roman"/>
              </a:rPr>
              <a:t> CML </a:t>
            </a:r>
            <a:r>
              <a:rPr lang="en-US" spc="-1" dirty="0" err="1">
                <a:solidFill>
                  <a:srgbClr val="C00000"/>
                </a:solidFill>
                <a:latin typeface="Times New Roman"/>
              </a:rPr>
              <a:t>DynamicMass</a:t>
            </a:r>
            <a:endParaRPr lang="en-US" spc="-1" dirty="0">
              <a:solidFill>
                <a:srgbClr val="C00000"/>
              </a:solidFill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pc="-1" dirty="0">
                <a:solidFill>
                  <a:schemeClr val="tx1"/>
                </a:solidFill>
                <a:latin typeface="Times New Roman"/>
              </a:rPr>
              <a:t> JEOD v3.4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Model Inventory</a:t>
            </a: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75344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Documentation (docs/)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pc="-1" dirty="0">
                <a:latin typeface="Times New Roman"/>
              </a:rPr>
              <a:t> vent.pdf</a:t>
            </a:r>
            <a:endParaRPr lang="en-US" sz="1800" b="0" strike="noStrike" spc="-1" dirty="0"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 </a:t>
            </a:r>
            <a:r>
              <a:rPr lang="en-US" sz="1800" b="0" strike="noStrike" spc="-1" dirty="0" err="1">
                <a:latin typeface="Times New Roman"/>
              </a:rPr>
              <a:t>vent.odt</a:t>
            </a:r>
            <a:endParaRPr lang="en-US" sz="1800" b="0" strike="noStrike" spc="-1" dirty="0"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 vent_presentation.pdf</a:t>
            </a:r>
            <a:endParaRPr lang="en-US" spc="-1" dirty="0"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 </a:t>
            </a:r>
            <a:r>
              <a:rPr lang="en-US" sz="1800" b="0" strike="noStrike" spc="-1" dirty="0" err="1">
                <a:latin typeface="Times New Roman"/>
              </a:rPr>
              <a:t>vent_presentation.odp</a:t>
            </a:r>
            <a:endParaRPr lang="en-US" sz="1800" b="0" strike="noStrike" spc="-1" dirty="0">
              <a:latin typeface="Times New Roman"/>
            </a:endParaRP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Headers (include/)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 </a:t>
            </a:r>
            <a:r>
              <a:rPr lang="en-US" sz="1800" b="0" strike="noStrike" spc="-1" dirty="0" err="1">
                <a:latin typeface="Times New Roman"/>
              </a:rPr>
              <a:t>simple_vent.hh</a:t>
            </a:r>
            <a:endParaRPr lang="en-US" sz="1800" b="0" strike="noStrike" spc="-1" dirty="0"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pc="-1" dirty="0">
                <a:latin typeface="Times New Roman"/>
              </a:rPr>
              <a:t> </a:t>
            </a:r>
            <a:r>
              <a:rPr lang="en-US" spc="-1" dirty="0" err="1">
                <a:latin typeface="Times New Roman"/>
              </a:rPr>
              <a:t>vent.hh</a:t>
            </a:r>
            <a:endParaRPr lang="en-US" spc="-1" dirty="0"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 </a:t>
            </a:r>
            <a:r>
              <a:rPr lang="en-US" sz="1800" b="0" strike="noStrike" spc="-1" dirty="0" err="1">
                <a:latin typeface="Times New Roman"/>
              </a:rPr>
              <a:t>vent_set</a:t>
            </a:r>
            <a:r>
              <a:rPr lang="en-US" spc="-1" dirty="0" err="1">
                <a:latin typeface="Times New Roman"/>
              </a:rPr>
              <a:t>.hh</a:t>
            </a:r>
            <a:endParaRPr lang="en-US" sz="1800" b="0" strike="noStrike" spc="-1" dirty="0">
              <a:latin typeface="Times New Roman"/>
            </a:endParaRP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Source code (</a:t>
            </a:r>
            <a:r>
              <a:rPr lang="en-US" sz="2200" b="0" strike="noStrike" spc="-1" dirty="0" err="1">
                <a:latin typeface="Times New Roman"/>
              </a:rPr>
              <a:t>src</a:t>
            </a:r>
            <a:r>
              <a:rPr lang="en-US" sz="2200" b="0" strike="noStrike" spc="-1" dirty="0">
                <a:latin typeface="Times New Roman"/>
              </a:rPr>
              <a:t>/)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 simple_vent.cc</a:t>
            </a:r>
            <a:endParaRPr lang="en-US" spc="-1" dirty="0"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 vent.cc</a:t>
            </a:r>
            <a:endParaRPr lang="en-US" spc="-1" dirty="0"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 vent_set.cc</a:t>
            </a: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4935960" y="1005480"/>
            <a:ext cx="475344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Verification (</a:t>
            </a:r>
            <a:r>
              <a:rPr lang="en-US" sz="2200" b="0" strike="noStrike" spc="-1" dirty="0" err="1">
                <a:latin typeface="Times New Roman"/>
              </a:rPr>
              <a:t>verif</a:t>
            </a:r>
            <a:r>
              <a:rPr lang="en-US" sz="2200" b="0" strike="noStrike" spc="-1" dirty="0">
                <a:latin typeface="Times New Roman"/>
              </a:rPr>
              <a:t>/)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 err="1">
                <a:latin typeface="Times New Roman"/>
              </a:rPr>
              <a:t>SIM_verif</a:t>
            </a:r>
            <a:endParaRPr lang="en-US" sz="1800" b="0" strike="noStrike" spc="-1" dirty="0">
              <a:latin typeface="Times New Roman"/>
            </a:endParaRP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Validation (validation/)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None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  <a:ea typeface="Noto Sans CJK SC"/>
              </a:rPr>
              <a:t>Code Review : </a:t>
            </a: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Coding Standards Compliance</a:t>
            </a: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>
                <a:solidFill>
                  <a:srgbClr val="000000"/>
                </a:solidFill>
                <a:latin typeface="Times New Roman"/>
              </a:rPr>
              <a:t>Model is compliant</a:t>
            </a:r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Code Review : Architecture Review</a:t>
            </a: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20000"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1" strike="noStrike" spc="-1" dirty="0">
                <a:solidFill>
                  <a:srgbClr val="000000"/>
                </a:solidFill>
                <a:latin typeface="Times New Roman"/>
              </a:rPr>
              <a:t> Class </a:t>
            </a:r>
            <a:r>
              <a:rPr lang="en-US" sz="2200" b="1" strike="noStrike" spc="-1" dirty="0" err="1">
                <a:solidFill>
                  <a:srgbClr val="000000"/>
                </a:solidFill>
                <a:latin typeface="Times New Roman"/>
              </a:rPr>
              <a:t>SimpleVent</a:t>
            </a:r>
            <a:endParaRPr lang="en-US" sz="2200" b="1" strike="noStrike" spc="-1" dirty="0">
              <a:solidFill>
                <a:srgbClr val="000000"/>
              </a:solidFill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  <a:defRPr/>
            </a:pPr>
            <a:r>
              <a:rPr lang="en-US" sz="18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Produces a force/torque pair, or an instantaneous impulse (linear and angular pair)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  <a:defRPr/>
            </a:pPr>
            <a:r>
              <a:rPr lang="en-US" sz="18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Although vents can be instantiated independently, they are not intended to function independently. The main executive methods are restricted to execution from a Vent Set.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  <a:defRPr/>
            </a:pPr>
            <a:r>
              <a:rPr lang="en-US" spc="-1" dirty="0"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Does not account for mass depletion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  <a:defRPr/>
            </a:pPr>
            <a:endParaRPr lang="en-US" sz="18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1" strike="noStrike" spc="-1" dirty="0">
                <a:solidFill>
                  <a:srgbClr val="000000"/>
                </a:solidFill>
                <a:latin typeface="Times New Roman"/>
              </a:rPr>
              <a:t>Class Vent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  <a:defRPr/>
            </a:pP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S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tandard vent; inherits the capabilities of a simple vent and adds mass depletion capabilities.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  <a:defRPr/>
            </a:pPr>
            <a:endParaRPr lang="en-US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1" strike="noStrike" spc="-1" dirty="0">
                <a:solidFill>
                  <a:srgbClr val="000000"/>
                </a:solidFill>
                <a:latin typeface="Times New Roman"/>
              </a:rPr>
              <a:t>Class </a:t>
            </a:r>
            <a:r>
              <a:rPr lang="en-US" sz="2200" b="1" strike="noStrike" spc="-1" dirty="0" err="1">
                <a:solidFill>
                  <a:srgbClr val="000000"/>
                </a:solidFill>
                <a:latin typeface="Times New Roman"/>
              </a:rPr>
              <a:t>VentSet</a:t>
            </a:r>
            <a:endParaRPr lang="en-US" sz="2200" b="1" strike="noStrike" spc="-1" dirty="0"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  <a:defRPr/>
            </a:pPr>
            <a:r>
              <a:rPr lang="en-US" spc="-1" dirty="0">
                <a:solidFill>
                  <a:srgbClr val="000000"/>
                </a:solidFill>
                <a:latin typeface="Times New Roman"/>
                <a:ea typeface="DejaVu Sans"/>
                <a:cs typeface="Times New Roman" panose="02020603050405020304" pitchFamily="18" charset="0"/>
              </a:rPr>
              <a:t>M</a:t>
            </a:r>
            <a:r>
              <a:rPr lang="en-US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anager class; the </a:t>
            </a:r>
            <a:r>
              <a:rPr lang="en-US" b="0" strike="noStrike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VentSet</a:t>
            </a:r>
            <a:r>
              <a:rPr lang="en-US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provides a single access point for a grouping of vents that are to be operated together. 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  <a:defRPr/>
            </a:pP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</a:t>
            </a:r>
            <a:r>
              <a:rPr lang="en-US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rovides methods for manipulating all the vents at once, or one at a time. 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  <a:defRPr/>
            </a:pP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C</a:t>
            </a:r>
            <a:r>
              <a:rPr lang="en-US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ollects forces and impulses from all the vents, combining them to provide a net force and torque pair, or and instantaneous linear and angular impulse pair. 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  <a:defRPr/>
            </a:pPr>
            <a:r>
              <a:rPr lang="en-US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Inherits from the CML </a:t>
            </a:r>
            <a:r>
              <a:rPr lang="en-US" b="0" strike="noStrike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SubscriptionBase</a:t>
            </a:r>
            <a:r>
              <a:rPr lang="en-US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class which provides management of the activity status of the model.</a:t>
            </a:r>
            <a:endParaRPr lang="en-US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 dirty="0">
                <a:solidFill>
                  <a:srgbClr val="182F7C"/>
                </a:solidFill>
                <a:latin typeface="Arial"/>
              </a:rPr>
              <a:t>Code Review : Delta Updates</a:t>
            </a: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400" b="1" i="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01/19/2023: MR !5678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pc="-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Closes Issue #1542 (11/2022): </a:t>
            </a:r>
            <a:r>
              <a:rPr lang="en-US" spc="-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VentSet</a:t>
            </a:r>
            <a:r>
              <a:rPr lang="en-US" spc="-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deactivation wrap-up preferred behavior</a:t>
            </a:r>
            <a:endParaRPr lang="en-US" sz="1800" b="0" strike="noStrike" spc="-1" dirty="0"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 err="1">
                <a:solidFill>
                  <a:srgbClr val="00B0F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SimpleVent</a:t>
            </a:r>
            <a:r>
              <a:rPr lang="en-US" sz="1800" b="0" strike="noStrike" spc="-1" dirty="0">
                <a:solidFill>
                  <a:srgbClr val="00B0F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Class:</a:t>
            </a:r>
            <a:endParaRPr lang="en-US" sz="1800" b="0" strike="noStrike" spc="-1" dirty="0">
              <a:latin typeface="Times New Roman"/>
            </a:endParaRPr>
          </a:p>
          <a:p>
            <a:pPr marL="1296000" lvl="2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600" spc="-1" dirty="0">
                <a:solidFill>
                  <a:srgbClr val="00B0F0"/>
                </a:solidFill>
                <a:latin typeface="Times New Roman"/>
              </a:rPr>
              <a:t>Added</a:t>
            </a:r>
            <a:r>
              <a:rPr lang="en-US" sz="1600" spc="-1" dirty="0">
                <a:latin typeface="Times New Roman"/>
              </a:rPr>
              <a:t> </a:t>
            </a:r>
            <a:r>
              <a:rPr lang="en-US" sz="1600" spc="-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unset methods for direction, force, force mag, impulse, impulse mag, duration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600" spc="-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Added hold flags, consolidating force-impulse-duration consistency logic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600" spc="-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Added virtual methods for polymorphic extension</a:t>
            </a:r>
            <a:endParaRPr lang="en-US" sz="1600" spc="-1" dirty="0"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  <a:defRPr/>
            </a:pPr>
            <a:r>
              <a:rPr lang="en-US" sz="1800" spc="-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Vent Class: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800" spc="-1" dirty="0">
                <a:solidFill>
                  <a:srgbClr val="00B0F0"/>
                </a:solidFill>
                <a:latin typeface="Times New Roman"/>
              </a:rPr>
              <a:t>Added</a:t>
            </a:r>
            <a:r>
              <a:rPr lang="en-US" sz="1800" spc="-1" dirty="0">
                <a:latin typeface="Times New Roman"/>
              </a:rPr>
              <a:t> </a:t>
            </a:r>
            <a:r>
              <a:rPr lang="en-US" sz="1800" spc="-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unset methods for exhaust speed and flowrate</a:t>
            </a:r>
            <a:endParaRPr lang="en-US" sz="1800" spc="-1" dirty="0">
              <a:solidFill>
                <a:srgbClr val="00B0F0"/>
              </a:solidFill>
              <a:latin typeface="Times New Roman"/>
            </a:endParaRPr>
          </a:p>
          <a:p>
            <a:pPr marL="1296000" lvl="2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800" spc="-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Added polymorphic </a:t>
            </a:r>
            <a:r>
              <a:rPr lang="en-US" sz="1800" i="1" spc="-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stop_venting</a:t>
            </a:r>
            <a:r>
              <a:rPr lang="en-US" sz="1800" i="1" spc="-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spc="-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 to switch vent off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  <a:defRPr/>
            </a:pPr>
            <a:r>
              <a:rPr lang="en-US" sz="1800" spc="-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VentSet</a:t>
            </a:r>
            <a:r>
              <a:rPr lang="en-US" sz="1800" spc="-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</a:t>
            </a:r>
            <a:endParaRPr lang="en-US" sz="18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296000" lvl="2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800" spc="-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Added time as constructor argument and </a:t>
            </a:r>
            <a:r>
              <a:rPr lang="en-US" sz="1800" i="1" spc="-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dyn_time</a:t>
            </a:r>
            <a:r>
              <a:rPr lang="en-US" sz="1800" i="1" spc="-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spc="-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protected attribute for timed vents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pc="-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Added error catch in </a:t>
            </a:r>
            <a:r>
              <a:rPr lang="en-US" spc="-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start_vent</a:t>
            </a:r>
            <a:r>
              <a:rPr lang="en-US" spc="-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pc="-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start_vents</a:t>
            </a:r>
            <a:r>
              <a:rPr lang="en-US" spc="-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methods</a:t>
            </a:r>
            <a:endParaRPr lang="en-US" sz="1800" spc="-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  <a:defRPr/>
            </a:pPr>
            <a:r>
              <a:rPr lang="en-US" b="0" strike="noStrike" spc="-1" dirty="0">
                <a:solidFill>
                  <a:srgbClr val="00B0F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Verification </a:t>
            </a:r>
            <a:r>
              <a:rPr lang="en-US" spc="-1" dirty="0">
                <a:solidFill>
                  <a:srgbClr val="00B0F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clean-up and new tests</a:t>
            </a:r>
            <a:endParaRPr lang="en-US" sz="18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296000" lvl="2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endParaRPr lang="en-US" spc="-1" dirty="0">
              <a:solidFill>
                <a:srgbClr val="00B0F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008000" lvl="2">
              <a:buClr>
                <a:srgbClr val="000000"/>
              </a:buClr>
              <a:buSzPct val="45000"/>
            </a:pPr>
            <a:endParaRPr lang="en-US" spc="-1" dirty="0"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228600" indent="-209520">
              <a:lnSpc>
                <a:spcPct val="100000"/>
              </a:lnSpc>
              <a:buClr>
                <a:srgbClr val="0B1997"/>
              </a:buClr>
              <a:buFont typeface="Symbol"/>
              <a:buChar char=""/>
            </a:pPr>
            <a:endParaRPr lang="en-US" sz="1400" b="0" strike="noStrike" spc="-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endParaRPr lang="en-US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242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Code Review : Code Coverage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1CB5CA-FB9E-C16A-BC05-3561DEA41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994" y="1138793"/>
            <a:ext cx="6553891" cy="28335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965573E-41DE-6D69-3EDA-0DEA28FF035F}"/>
              </a:ext>
            </a:extLst>
          </p:cNvPr>
          <p:cNvSpPr txBox="1"/>
          <p:nvPr/>
        </p:nvSpPr>
        <p:spPr>
          <a:xfrm>
            <a:off x="359664" y="4663440"/>
            <a:ext cx="3377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 exceptions in docs Section 5.1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Initial Project Implementation</a:t>
            </a: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r>
              <a:rPr lang="en-US" sz="2200" b="0" strike="noStrike" spc="-1" dirty="0">
                <a:latin typeface="Times New Roman"/>
              </a:rPr>
              <a:t>Not directly used in </a:t>
            </a:r>
            <a:r>
              <a:rPr lang="en-US" sz="2200" b="0" strike="noStrike" spc="-1" dirty="0" err="1">
                <a:latin typeface="Times New Roman"/>
              </a:rPr>
              <a:t>SIM_orion</a:t>
            </a:r>
            <a:endParaRPr lang="en-US" sz="2200" b="0" strike="noStrike" spc="-1" dirty="0">
              <a:latin typeface="Times New Roman"/>
            </a:endParaRPr>
          </a:p>
          <a:p>
            <a:r>
              <a:rPr lang="en-US" sz="2200" spc="-1" dirty="0">
                <a:latin typeface="Times New Roman"/>
              </a:rPr>
              <a:t>Used in ammonia vent, PSA vent and urine vent models</a:t>
            </a:r>
            <a:endParaRPr lang="en-US" sz="22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Verification: SIM_verif</a:t>
            </a: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182520" y="914040"/>
            <a:ext cx="9597960" cy="411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200" spc="-1" dirty="0" err="1">
                <a:solidFill>
                  <a:srgbClr val="000000"/>
                </a:solidFill>
                <a:latin typeface="Times New Roman"/>
              </a:rPr>
              <a:t>SIM_verif</a:t>
            </a:r>
            <a:endParaRPr lang="en-US" sz="2200" b="0" strike="noStrike" spc="-1" dirty="0">
              <a:solidFill>
                <a:srgbClr val="000000"/>
              </a:solidFill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b="0" strike="noStrike" spc="-1" dirty="0">
                <a:latin typeface="Times New Roman"/>
              </a:rPr>
              <a:t> See docs, Chapter 5</a:t>
            </a:r>
          </a:p>
          <a:p>
            <a:endParaRPr lang="en-US" sz="22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Follow-on Work</a:t>
            </a: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1" strike="noStrike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200" b="1" strike="noStrike" spc="-1" dirty="0" err="1">
                <a:solidFill>
                  <a:srgbClr val="000000"/>
                </a:solidFill>
                <a:latin typeface="Times New Roman"/>
              </a:rPr>
              <a:t>ToDOs</a:t>
            </a:r>
            <a:endParaRPr lang="en-US" sz="2200" b="1" strike="noStrike" spc="-1" dirty="0">
              <a:solidFill>
                <a:srgbClr val="000000"/>
              </a:solidFill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  <a:defRPr/>
            </a:pPr>
            <a:r>
              <a:rPr lang="en-US" sz="2000" b="1" strike="noStrike" spc="-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Turner 01/2023 in vent.cc:</a:t>
            </a:r>
            <a:r>
              <a:rPr lang="en-US" sz="2000" b="0" strike="noStrike" spc="-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600" b="0" strike="noStrike" spc="-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Could make </a:t>
            </a:r>
            <a:r>
              <a:rPr lang="en-US" sz="1600" b="0" i="1" strike="noStrike" spc="-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start_venting</a:t>
            </a:r>
            <a:r>
              <a:rPr lang="en-US" sz="1600" b="0" i="1" strike="noStrike" spc="-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have </a:t>
            </a:r>
            <a:r>
              <a:rPr lang="en-US" sz="1600" b="0" strike="noStrike" spc="-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option to support running without mass-flow, like a simple-vent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2000" b="1" strike="noStrike" spc="-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Turner 2020/01 in </a:t>
            </a:r>
            <a:r>
              <a:rPr lang="en-US" sz="2000" b="1" strike="noStrike" spc="-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vent_set.hh</a:t>
            </a:r>
            <a:r>
              <a:rPr lang="en-US" sz="2000" b="1" strike="noStrike" spc="-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800" b="0" strike="noStrike" spc="-1" dirty="0">
              <a:latin typeface="Times New Roman"/>
            </a:endParaRPr>
          </a:p>
          <a:p>
            <a:pPr marL="1296000" lvl="2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600" b="0" strike="noStrike" spc="-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Investigate use of </a:t>
            </a:r>
            <a:r>
              <a:rPr lang="en-US" sz="1600" b="0" strike="noStrike" spc="-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varargs</a:t>
            </a:r>
            <a:r>
              <a:rPr lang="en-US" sz="1600" b="0" strike="noStrike" spc="-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variadic templates to support a set of vents each running off its own specified </a:t>
            </a:r>
            <a:r>
              <a:rPr lang="en-US" sz="1600" b="0" strike="noStrike" spc="-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DynMassBody</a:t>
            </a:r>
            <a:endParaRPr lang="en-US" sz="1600" spc="-1" dirty="0">
              <a:latin typeface="Times New Roman"/>
            </a:endParaRPr>
          </a:p>
          <a:p>
            <a:pPr marL="1296000" lvl="2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600" strike="noStrike" spc="-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b="0" strike="noStrike" spc="-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mplement a Vent type running off a -</a:t>
            </a:r>
            <a:r>
              <a:rPr lang="en-US" sz="1600" b="0" strike="noStrike" spc="-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DynamicMassString</a:t>
            </a:r>
            <a:r>
              <a:rPr lang="en-US" sz="1600" b="0" strike="noStrike" spc="-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rather than a single tank</a:t>
            </a:r>
            <a:endParaRPr lang="en-US" sz="16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1933</TotalTime>
  <Words>754</Words>
  <Application>Microsoft Office PowerPoint</Application>
  <PresentationFormat>Custom</PresentationFormat>
  <Paragraphs>120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Courier New</vt:lpstr>
      <vt:lpstr>Symbol</vt:lpstr>
      <vt:lpstr>Times New Roman</vt:lpstr>
      <vt:lpstr>Wingdings</vt:lpstr>
      <vt:lpstr>Wingdings 3</vt:lpstr>
      <vt:lpstr>Office Theme</vt:lpstr>
      <vt:lpstr>Office Theme</vt:lpstr>
      <vt:lpstr>PowerPoint Presentation</vt:lpstr>
      <vt:lpstr>Outline</vt:lpstr>
      <vt:lpstr>Model Purpose and Use</vt:lpstr>
      <vt:lpstr>Antares Project Status</vt:lpstr>
      <vt:lpstr>Code Inheritance and Dependencies</vt:lpstr>
      <vt:lpstr>Model Inventory</vt:lpstr>
      <vt:lpstr>Code Review : Coding Standards Compliance</vt:lpstr>
      <vt:lpstr>Code Review : Architecture Review</vt:lpstr>
      <vt:lpstr>Code Review : Delta Updates</vt:lpstr>
      <vt:lpstr>Code Review : Code Coverage </vt:lpstr>
      <vt:lpstr>Initial Project Implementation</vt:lpstr>
      <vt:lpstr>Verification: SIM_verif</vt:lpstr>
      <vt:lpstr>Follow-on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V&amp;V Presentation Template</dc:title>
  <dc:subject/>
  <dc:creator>Masset, Alexandre K. (JSC-EG211)[Odyssey Space Research L.L.C.]</dc:creator>
  <dc:description/>
  <cp:lastModifiedBy>Masset, Alexandre K. (JSC-EG211)[Odyssey Space Research L.L.C.]</cp:lastModifiedBy>
  <cp:revision>46</cp:revision>
  <dcterms:created xsi:type="dcterms:W3CDTF">2024-02-20T08:36:01Z</dcterms:created>
  <dcterms:modified xsi:type="dcterms:W3CDTF">2025-11-14T19:49:35Z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">
    <vt:lpwstr>Gary Turner</vt:lpwstr>
  </property>
  <property fmtid="{D5CDD505-2E9C-101B-9397-08002B2CF9AE}" pid="3" name="Initial Date">
    <vt:lpwstr>February 2024</vt:lpwstr>
  </property>
  <property fmtid="{D5CDD505-2E9C-101B-9397-08002B2CF9AE}" pid="4" name="Organization">
    <vt:lpwstr>Odyssey Space Research</vt:lpwstr>
  </property>
</Properties>
</file>