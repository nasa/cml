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</p:sldMasterIdLst>
  <p:notesMasterIdLst>
    <p:notesMasterId r:id="rId15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0077450" cy="5668963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54" d="100"/>
          <a:sy n="154" d="100"/>
        </p:scale>
        <p:origin x="25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592560" y="829080"/>
            <a:ext cx="7446960" cy="4091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move the slide</a:t>
            </a: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863280" y="5183280"/>
            <a:ext cx="6905880" cy="4910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2870" b="0" strike="noStrike" spc="-1">
                <a:latin typeface="Arial"/>
              </a:rPr>
              <a:t>Click to edit the notes format</a:t>
            </a:r>
          </a:p>
        </p:txBody>
      </p:sp>
      <p:sp>
        <p:nvSpPr>
          <p:cNvPr id="9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&lt;header&gt;</a:t>
            </a:r>
          </a:p>
        </p:txBody>
      </p:sp>
      <p:sp>
        <p:nvSpPr>
          <p:cNvPr id="93" name="PlaceHolder 4"/>
          <p:cNvSpPr>
            <a:spLocks noGrp="1"/>
          </p:cNvSpPr>
          <p:nvPr>
            <p:ph type="dt"/>
          </p:nvPr>
        </p:nvSpPr>
        <p:spPr>
          <a:xfrm>
            <a:off x="4885920" y="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400" b="0" strike="noStrike" spc="-1">
                <a:latin typeface="Times New Roman"/>
              </a:rPr>
              <a:t>&lt;date/time&gt;</a:t>
            </a:r>
          </a:p>
        </p:txBody>
      </p:sp>
      <p:sp>
        <p:nvSpPr>
          <p:cNvPr id="94" name="PlaceHolder 5"/>
          <p:cNvSpPr>
            <a:spLocks noGrp="1"/>
          </p:cNvSpPr>
          <p:nvPr>
            <p:ph type="ftr"/>
          </p:nvPr>
        </p:nvSpPr>
        <p:spPr>
          <a:xfrm>
            <a:off x="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 spc="-1">
                <a:latin typeface="Times New Roman"/>
              </a:rPr>
              <a:t>&lt;footer&gt;</a:t>
            </a:r>
          </a:p>
        </p:txBody>
      </p:sp>
      <p:sp>
        <p:nvSpPr>
          <p:cNvPr id="95" name="PlaceHolder 6"/>
          <p:cNvSpPr>
            <a:spLocks noGrp="1"/>
          </p:cNvSpPr>
          <p:nvPr>
            <p:ph type="sldNum"/>
          </p:nvPr>
        </p:nvSpPr>
        <p:spPr>
          <a:xfrm>
            <a:off x="4885920" y="10366920"/>
            <a:ext cx="3746160" cy="545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algn="r">
              <a:buNone/>
            </a:pPr>
            <a:fld id="{31C97FCD-0B7D-48EB-B144-F2E92E5975D0}" type="slidenum">
              <a:rPr lang="en-US" sz="1400" b="0" strike="noStrike" spc="-1">
                <a:latin typeface="Times New Roman"/>
              </a:rPr>
              <a:t>‹#›</a:t>
            </a:fld>
            <a:endParaRPr lang="en-US" sz="14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CustomShape 1"/>
          <p:cNvSpPr/>
          <p:nvPr/>
        </p:nvSpPr>
        <p:spPr>
          <a:xfrm>
            <a:off x="4402800" y="9553680"/>
            <a:ext cx="3346920" cy="4824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2880" tIns="46440" rIns="92880" bIns="46440" anchor="b">
            <a:noAutofit/>
          </a:bodyPr>
          <a:lstStyle/>
          <a:p>
            <a:pPr algn="r">
              <a:lnSpc>
                <a:spcPct val="100000"/>
              </a:lnSpc>
              <a:buNone/>
            </a:pPr>
            <a:fld id="{8064F1FE-B692-45B1-84E4-F7702D56A966}" type="slidenum">
              <a:rPr lang="en-US" sz="1200" b="0" strike="noStrike" spc="-1">
                <a:solidFill>
                  <a:srgbClr val="000000"/>
                </a:solidFill>
                <a:latin typeface="Times New Roman"/>
                <a:ea typeface="+mn-ea"/>
              </a:rPr>
              <a:t>1</a:t>
            </a:fld>
            <a:endParaRPr lang="en-US" sz="1200" b="0" strike="noStrike" spc="-1">
              <a:latin typeface="Arial"/>
            </a:endParaRPr>
          </a:p>
        </p:txBody>
      </p:sp>
      <p:sp>
        <p:nvSpPr>
          <p:cNvPr id="122" name="PlaceHolder 1"/>
          <p:cNvSpPr>
            <a:spLocks noGrp="1"/>
          </p:cNvSpPr>
          <p:nvPr>
            <p:ph type="body"/>
          </p:nvPr>
        </p:nvSpPr>
        <p:spPr>
          <a:xfrm>
            <a:off x="777600" y="4777560"/>
            <a:ext cx="6196320" cy="4505760"/>
          </a:xfrm>
          <a:prstGeom prst="rect">
            <a:avLst/>
          </a:prstGeom>
          <a:noFill/>
          <a:ln w="0">
            <a:noFill/>
          </a:ln>
        </p:spPr>
        <p:txBody>
          <a:bodyPr lIns="92880" tIns="46440" rIns="92880" bIns="46440" anchor="t">
            <a:noAutofit/>
          </a:bodyPr>
          <a:lstStyle/>
          <a:p>
            <a:endParaRPr lang="en-US" sz="2870" b="0" strike="noStrike" spc="-1">
              <a:latin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0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1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42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 type="subTitle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ubTitle"/>
          </p:nvPr>
        </p:nvSpPr>
        <p:spPr>
          <a:xfrm>
            <a:off x="1188000" y="91080"/>
            <a:ext cx="7769880" cy="21207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182520" y="3106800"/>
            <a:ext cx="959796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0" name="PlaceHolder 3"/>
          <p:cNvSpPr>
            <a:spLocks noGrp="1"/>
          </p:cNvSpPr>
          <p:nvPr>
            <p:ph/>
          </p:nvPr>
        </p:nvSpPr>
        <p:spPr>
          <a:xfrm>
            <a:off x="5100840" y="100548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1" name="PlaceHolder 4"/>
          <p:cNvSpPr>
            <a:spLocks noGrp="1"/>
          </p:cNvSpPr>
          <p:nvPr>
            <p:ph/>
          </p:nvPr>
        </p:nvSpPr>
        <p:spPr>
          <a:xfrm>
            <a:off x="18252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2" name="PlaceHolder 5"/>
          <p:cNvSpPr>
            <a:spLocks noGrp="1"/>
          </p:cNvSpPr>
          <p:nvPr>
            <p:ph/>
          </p:nvPr>
        </p:nvSpPr>
        <p:spPr>
          <a:xfrm>
            <a:off x="5100840" y="3106800"/>
            <a:ext cx="468360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2600" b="1" strike="noStrike" spc="-1">
              <a:solidFill>
                <a:srgbClr val="182F7C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34275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6672960" y="100548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7" name="PlaceHolder 5"/>
          <p:cNvSpPr>
            <a:spLocks noGrp="1"/>
          </p:cNvSpPr>
          <p:nvPr>
            <p:ph/>
          </p:nvPr>
        </p:nvSpPr>
        <p:spPr>
          <a:xfrm>
            <a:off x="18252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8" name="PlaceHolder 6"/>
          <p:cNvSpPr>
            <a:spLocks noGrp="1"/>
          </p:cNvSpPr>
          <p:nvPr>
            <p:ph/>
          </p:nvPr>
        </p:nvSpPr>
        <p:spPr>
          <a:xfrm>
            <a:off x="34275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  <p:sp>
        <p:nvSpPr>
          <p:cNvPr id="89" name="PlaceHolder 7"/>
          <p:cNvSpPr>
            <a:spLocks noGrp="1"/>
          </p:cNvSpPr>
          <p:nvPr>
            <p:ph/>
          </p:nvPr>
        </p:nvSpPr>
        <p:spPr>
          <a:xfrm>
            <a:off x="6672960" y="3106800"/>
            <a:ext cx="3090240" cy="1918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Click to edit the title text format</a:t>
            </a: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Click to edit the outline text format</a:t>
            </a:r>
          </a:p>
          <a:p>
            <a:pPr marL="882900" lvl="1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Second Outline Level</a:t>
            </a:r>
          </a:p>
          <a:p>
            <a:pPr marL="1485900" lvl="2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Third Outline Level</a:t>
            </a:r>
          </a:p>
          <a:p>
            <a:pPr marL="1943100" lvl="3" indent="-342900">
              <a:buClr>
                <a:srgbClr val="000000"/>
              </a:buClr>
              <a:buSzPct val="75000"/>
            </a:pPr>
            <a:r>
              <a:rPr lang="en-US" sz="1800" b="0" strike="noStrike" spc="-1" dirty="0">
                <a:latin typeface="Times New Roman"/>
              </a:rPr>
              <a:t>Fourth Outline Level</a:t>
            </a:r>
          </a:p>
          <a:p>
            <a:pPr marL="1485900" lvl="2" indent="-342900">
              <a:buClr>
                <a:srgbClr val="000000"/>
              </a:buClr>
              <a:buSzPct val="75000"/>
            </a:pP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400" b="0" i="1" strike="noStrike" spc="-1" dirty="0">
              <a:latin typeface="Times New Roman"/>
            </a:endParaRPr>
          </a:p>
        </p:txBody>
      </p:sp>
      <p:sp>
        <p:nvSpPr>
          <p:cNvPr id="2" name="CustomShape 3"/>
          <p:cNvSpPr/>
          <p:nvPr/>
        </p:nvSpPr>
        <p:spPr>
          <a:xfrm>
            <a:off x="360" y="63972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21409A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3" name="Picture 35"/>
          <p:cNvPicPr/>
          <p:nvPr/>
        </p:nvPicPr>
        <p:blipFill>
          <a:blip r:embed="rId14"/>
          <a:stretch/>
        </p:blipFill>
        <p:spPr>
          <a:xfrm>
            <a:off x="9141120" y="0"/>
            <a:ext cx="914400" cy="733680"/>
          </a:xfrm>
          <a:prstGeom prst="rect">
            <a:avLst/>
          </a:prstGeom>
          <a:ln w="9360">
            <a:noFill/>
          </a:ln>
        </p:spPr>
      </p:pic>
      <p:pic>
        <p:nvPicPr>
          <p:cNvPr id="4" name="Picture 24"/>
          <p:cNvPicPr/>
          <p:nvPr/>
        </p:nvPicPr>
        <p:blipFill>
          <a:blip r:embed="rId15"/>
          <a:stretch/>
        </p:blipFill>
        <p:spPr>
          <a:xfrm>
            <a:off x="91080" y="18360"/>
            <a:ext cx="840600" cy="713160"/>
          </a:xfrm>
          <a:prstGeom prst="rect">
            <a:avLst/>
          </a:prstGeom>
          <a:ln w="9360">
            <a:noFill/>
          </a:ln>
        </p:spPr>
      </p:pic>
      <p:sp>
        <p:nvSpPr>
          <p:cNvPr id="6" name="TextBox 5"/>
          <p:cNvSpPr txBox="1"/>
          <p:nvPr/>
        </p:nvSpPr>
        <p:spPr>
          <a:xfrm>
            <a:off x="4387680" y="5485680"/>
            <a:ext cx="5576040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algn="r">
              <a:buNone/>
            </a:pPr>
            <a:r>
              <a:rPr lang="en-US" sz="1100" b="1" strike="noStrike" spc="-1" dirty="0">
                <a:latin typeface="Times New Roman"/>
              </a:rPr>
              <a:t>Slide </a:t>
            </a:r>
            <a:fld id="{FCD10905-8E8B-4818-8309-30653CDF43A3}" type="slidenum">
              <a:rPr lang="en-US" sz="1100" b="1" strike="noStrike" spc="-1">
                <a:latin typeface="Times New Roman"/>
              </a:rPr>
              <a:t>‹#›</a:t>
            </a:fld>
            <a:r>
              <a:rPr lang="en-US" sz="1100" b="1" strike="noStrike" spc="-1" dirty="0">
                <a:latin typeface="Times New Roman"/>
              </a:rPr>
              <a:t> of 12</a:t>
            </a:r>
            <a:endParaRPr lang="en-US" sz="1100" b="0" strike="noStrike" spc="-1" dirty="0">
              <a:latin typeface="Times New Roman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1079" y="5485680"/>
            <a:ext cx="5431689" cy="1836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r>
              <a:rPr lang="en-US" sz="1100" b="1" strike="noStrike" spc="-1" dirty="0">
                <a:latin typeface="Times New Roman"/>
              </a:rPr>
              <a:t>Verification Presentation for </a:t>
            </a:r>
            <a:r>
              <a:rPr lang="en-US" sz="1100" b="1" strike="noStrike" spc="-1" dirty="0">
                <a:solidFill>
                  <a:schemeClr val="tx1"/>
                </a:solidFill>
                <a:latin typeface="Times New Roman"/>
              </a:rPr>
              <a:t>CML </a:t>
            </a:r>
            <a:r>
              <a:rPr lang="en-US" sz="1100" b="1" strike="noStrike" spc="-1" dirty="0" err="1">
                <a:solidFill>
                  <a:schemeClr val="tx1"/>
                </a:solidFill>
                <a:latin typeface="Times New Roman"/>
              </a:rPr>
              <a:t>ExtendedPlanetaryDerivedState</a:t>
            </a:r>
            <a:r>
              <a:rPr lang="en-US" sz="1100" b="1" strike="noStrike" spc="-1" dirty="0">
                <a:solidFill>
                  <a:schemeClr val="tx1"/>
                </a:solidFill>
                <a:latin typeface="Times New Roman"/>
              </a:rPr>
              <a:t> – Alexandre Masset</a:t>
            </a:r>
            <a:endParaRPr lang="en-US" sz="1100" b="0" strike="noStrike" spc="-1" dirty="0">
              <a:solidFill>
                <a:schemeClr val="tx1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SzPct val="50000"/>
        <a:buFont typeface="Wingdings" pitchFamily="2" charset="2"/>
        <a:buChar char="§"/>
        <a:defRPr sz="1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35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93750" indent="-285750" algn="l" defTabSz="914400" rtl="0" eaLnBrk="1" latinLnBrk="0" hangingPunct="1">
        <a:lnSpc>
          <a:spcPct val="90000"/>
        </a:lnSpc>
        <a:spcBef>
          <a:spcPts val="500"/>
        </a:spcBef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ustomShape 1" hidden="1"/>
          <p:cNvSpPr/>
          <p:nvPr/>
        </p:nvSpPr>
        <p:spPr>
          <a:xfrm>
            <a:off x="4426200" y="5469840"/>
            <a:ext cx="1060200" cy="9828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Page </a:t>
            </a:r>
            <a:fld id="{3409D930-2287-41B3-921B-0387F4C9F349}" type="slidenum"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‹#›</a:t>
            </a:fld>
            <a:endParaRPr lang="en-US" sz="900" b="0" strike="noStrike" spc="-1">
              <a:latin typeface="Arial"/>
            </a:endParaRPr>
          </a:p>
        </p:txBody>
      </p:sp>
      <p:sp>
        <p:nvSpPr>
          <p:cNvPr id="44" name="CustomShape 2" hidden="1"/>
          <p:cNvSpPr/>
          <p:nvPr/>
        </p:nvSpPr>
        <p:spPr>
          <a:xfrm>
            <a:off x="24120" y="5490360"/>
            <a:ext cx="4096800" cy="17280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900" b="1" i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Model V&amp;V – &lt;Model Name&gt; – &lt;Team&gt;– &lt;Sim Version&gt;</a:t>
            </a:r>
            <a:endParaRPr lang="en-US" sz="900" b="0" strike="noStrike" spc="-1">
              <a:latin typeface="Arial"/>
            </a:endParaRPr>
          </a:p>
        </p:txBody>
      </p:sp>
      <p:sp>
        <p:nvSpPr>
          <p:cNvPr id="45" name="CustomShape 3" hidden="1"/>
          <p:cNvSpPr/>
          <p:nvPr/>
        </p:nvSpPr>
        <p:spPr>
          <a:xfrm>
            <a:off x="360" y="637200"/>
            <a:ext cx="10046880" cy="252360"/>
          </a:xfrm>
          <a:prstGeom prst="rect">
            <a:avLst/>
          </a:prstGeom>
          <a:gradFill rotWithShape="0">
            <a:gsLst>
              <a:gs pos="0">
                <a:srgbClr val="000000"/>
              </a:gs>
              <a:gs pos="100000">
                <a:srgbClr val="0A128C"/>
              </a:gs>
            </a:gsLst>
            <a:lin ang="0"/>
          </a:gradFill>
          <a:ln w="6480">
            <a:solidFill>
              <a:srgbClr val="FFFFFF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" name="CustomShape 4" hidden="1"/>
          <p:cNvSpPr/>
          <p:nvPr/>
        </p:nvSpPr>
        <p:spPr>
          <a:xfrm>
            <a:off x="8105400" y="659520"/>
            <a:ext cx="1243800" cy="210240"/>
          </a:xfrm>
          <a:prstGeom prst="rect">
            <a:avLst/>
          </a:prstGeom>
          <a:noFill/>
          <a:ln w="648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t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200" b="1" i="1" strike="noStrike" spc="-1">
                <a:solidFill>
                  <a:srgbClr val="000000"/>
                </a:solidFill>
                <a:latin typeface="Arial"/>
                <a:ea typeface="ＭＳ Ｐゴシック"/>
              </a:rPr>
              <a:t>Orion Project</a:t>
            </a:r>
            <a:endParaRPr lang="en-US" sz="1200" b="0" strike="noStrike" spc="-1">
              <a:latin typeface="Arial"/>
            </a:endParaRPr>
          </a:p>
        </p:txBody>
      </p:sp>
      <p:pic>
        <p:nvPicPr>
          <p:cNvPr id="47" name="Picture 24"/>
          <p:cNvPicPr/>
          <p:nvPr/>
        </p:nvPicPr>
        <p:blipFill>
          <a:blip r:embed="rId14"/>
          <a:stretch/>
        </p:blipFill>
        <p:spPr>
          <a:xfrm>
            <a:off x="72720" y="18000"/>
            <a:ext cx="1112760" cy="700920"/>
          </a:xfrm>
          <a:prstGeom prst="rect">
            <a:avLst/>
          </a:prstGeom>
          <a:ln w="9360">
            <a:noFill/>
          </a:ln>
        </p:spPr>
      </p:pic>
      <p:pic>
        <p:nvPicPr>
          <p:cNvPr id="48" name="Picture 35"/>
          <p:cNvPicPr/>
          <p:nvPr/>
        </p:nvPicPr>
        <p:blipFill>
          <a:blip r:embed="rId15"/>
          <a:stretch/>
        </p:blipFill>
        <p:spPr>
          <a:xfrm>
            <a:off x="8939520" y="0"/>
            <a:ext cx="1116000" cy="733680"/>
          </a:xfrm>
          <a:prstGeom prst="rect">
            <a:avLst/>
          </a:prstGeom>
          <a:ln w="9360">
            <a:noFill/>
          </a:ln>
        </p:spPr>
      </p:pic>
      <p:pic>
        <p:nvPicPr>
          <p:cNvPr id="49" name="Picture 4"/>
          <p:cNvPicPr/>
          <p:nvPr/>
        </p:nvPicPr>
        <p:blipFill>
          <a:blip r:embed="rId16"/>
          <a:stretch/>
        </p:blipFill>
        <p:spPr>
          <a:xfrm>
            <a:off x="0" y="0"/>
            <a:ext cx="10055880" cy="5653440"/>
          </a:xfrm>
          <a:prstGeom prst="rect">
            <a:avLst/>
          </a:prstGeom>
          <a:ln w="0">
            <a:noFill/>
          </a:ln>
        </p:spPr>
      </p:pic>
      <p:pic>
        <p:nvPicPr>
          <p:cNvPr id="50" name="Picture 34"/>
          <p:cNvPicPr/>
          <p:nvPr/>
        </p:nvPicPr>
        <p:blipFill>
          <a:blip r:embed="rId14"/>
          <a:stretch/>
        </p:blipFill>
        <p:spPr>
          <a:xfrm>
            <a:off x="213120" y="143640"/>
            <a:ext cx="1112760" cy="861840"/>
          </a:xfrm>
          <a:prstGeom prst="rect">
            <a:avLst/>
          </a:prstGeom>
          <a:ln w="9360">
            <a:noFill/>
          </a:ln>
        </p:spPr>
      </p:pic>
      <p:pic>
        <p:nvPicPr>
          <p:cNvPr id="51" name="Picture 35"/>
          <p:cNvPicPr/>
          <p:nvPr/>
        </p:nvPicPr>
        <p:blipFill>
          <a:blip r:embed="rId15"/>
          <a:stretch/>
        </p:blipFill>
        <p:spPr>
          <a:xfrm>
            <a:off x="209520" y="3341880"/>
            <a:ext cx="1116000" cy="733680"/>
          </a:xfrm>
          <a:prstGeom prst="rect">
            <a:avLst/>
          </a:prstGeom>
          <a:ln w="9360">
            <a:noFill/>
          </a:ln>
        </p:spPr>
      </p:pic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503640" y="225720"/>
            <a:ext cx="906876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3950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503640" y="1325880"/>
            <a:ext cx="90687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168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265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933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232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69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99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465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lang="en-US" sz="166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3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66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1427040" y="1033920"/>
            <a:ext cx="7580160" cy="411840"/>
          </a:xfrm>
          <a:prstGeom prst="rect">
            <a:avLst/>
          </a:prstGeom>
          <a:noFill/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V&amp;V Results for CML Extended Planetary Derived State (delta)</a:t>
            </a:r>
            <a:endParaRPr lang="en-US" sz="2800" b="0" strike="noStrike" spc="-1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2717640" y="4399200"/>
            <a:ext cx="715752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Alexandre Masset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chemeClr val="bg1"/>
                </a:solidFill>
                <a:latin typeface="Arial"/>
                <a:ea typeface="ＭＳ Ｐゴシック"/>
              </a:rPr>
              <a:t>Organization (</a:t>
            </a: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Odyssey Space Research)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Date: </a:t>
            </a:r>
            <a:fld id="{15A66493-A20E-4807-87CB-3450BAC0E276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12/2/2025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(version 1) –  </a:t>
            </a:r>
            <a:fld id="{828B8B43-DAEA-4298-8040-BA23F5AF6FBD}" type="datetime">
              <a:rPr lang="en-US" sz="1500" b="1" strike="noStrike" spc="-1" smtClean="0">
                <a:solidFill>
                  <a:srgbClr val="FFFFFF"/>
                </a:solidFill>
                <a:latin typeface="Arial"/>
                <a:ea typeface="ＭＳ Ｐゴシック"/>
              </a:rPr>
              <a:t>12/2/2025</a:t>
            </a:fld>
            <a:r>
              <a:rPr lang="en-US" sz="1500" b="1" strike="noStrike" spc="-1" dirty="0">
                <a:solidFill>
                  <a:srgbClr val="FFFFFF"/>
                </a:solidFill>
                <a:latin typeface="Arial"/>
                <a:ea typeface="ＭＳ Ｐゴシック"/>
              </a:rPr>
              <a:t> (latest)</a:t>
            </a: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 dirty="0">
              <a:solidFill>
                <a:srgbClr val="C9211E"/>
              </a:solidFill>
              <a:latin typeface="Arial"/>
            </a:endParaRPr>
          </a:p>
        </p:txBody>
      </p:sp>
      <p:sp>
        <p:nvSpPr>
          <p:cNvPr id="98" name="CustomShape 3"/>
          <p:cNvSpPr/>
          <p:nvPr/>
        </p:nvSpPr>
        <p:spPr>
          <a:xfrm>
            <a:off x="136800" y="4399200"/>
            <a:ext cx="2559600" cy="813960"/>
          </a:xfrm>
          <a:prstGeom prst="rect">
            <a:avLst/>
          </a:prstGeom>
          <a:solidFill>
            <a:srgbClr val="EEECE1">
              <a:alpha val="50000"/>
            </a:srgbClr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ANTARES Artemis 2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lang="en-US" sz="1500" b="1" strike="noStrike" spc="-1">
                <a:solidFill>
                  <a:srgbClr val="FFFFFF"/>
                </a:solidFill>
                <a:latin typeface="Arial"/>
                <a:ea typeface="ＭＳ Ｐゴシック"/>
              </a:rPr>
              <a:t>Model V&amp;V</a:t>
            </a:r>
            <a:endParaRPr lang="en-US" sz="1500" b="0" strike="noStrike" spc="-1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lang="en-US" sz="15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Outline</a:t>
            </a: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389880" cy="4479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 and Use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Assumptions and Limitations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Project Status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Location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Associated Merge Requests and Commit Hashes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Inheritance and Dependencies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Inventory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Coding Standards Compliance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Architecture Review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Code Coverage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/ Validation Test Descriptions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Follow-on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Model Purpose and Use</a:t>
            </a: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0000" lnSpcReduction="20000"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Purpose: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  <a:r>
              <a:rPr lang="en-US" b="0" strike="noStrike" spc="-1" dirty="0">
                <a:latin typeface="Times New Roman"/>
              </a:rPr>
              <a:t>Provides an extension to the JEOD </a:t>
            </a:r>
            <a:r>
              <a:rPr lang="en-US" b="0" strike="noStrike" spc="-1" dirty="0" err="1">
                <a:latin typeface="Times New Roman"/>
              </a:rPr>
              <a:t>PlanetaryDerivedState</a:t>
            </a:r>
            <a:r>
              <a:rPr lang="en-US" b="0" strike="noStrike" spc="-1" dirty="0">
                <a:latin typeface="Times New Roman"/>
              </a:rPr>
              <a:t> with additional state options to meet specific requirements</a:t>
            </a:r>
            <a:r>
              <a:rPr lang="en-US" spc="-1" dirty="0">
                <a:latin typeface="Times New Roman"/>
              </a:rPr>
              <a:t>. Notably, this model provides transformations and representations including Topocentric/</a:t>
            </a:r>
            <a:r>
              <a:rPr lang="en-US" spc="-1" dirty="0" err="1">
                <a:latin typeface="Times New Roman"/>
              </a:rPr>
              <a:t>Topodetic</a:t>
            </a:r>
            <a:r>
              <a:rPr lang="en-US" spc="-1" dirty="0">
                <a:latin typeface="Times New Roman"/>
              </a:rPr>
              <a:t> NED, Boost Reference, Plumbline, Launch Range, Landing Range, EI Range, Range Safety, Pad SEU and left-handed pad frames, Hang and Roll angles.</a:t>
            </a:r>
            <a:endParaRPr lang="en-US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Models Using this Model: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900" b="0" strike="noStrike" spc="-1" dirty="0">
                <a:latin typeface="Times New Roman"/>
              </a:rPr>
              <a:t>CML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</a:t>
            </a:r>
            <a:r>
              <a:rPr lang="en-US" sz="1900" b="0" strike="noStrike" spc="-1" dirty="0" err="1">
                <a:latin typeface="Times New Roman"/>
              </a:rPr>
              <a:t>atmos_rel_state</a:t>
            </a:r>
            <a:endParaRPr lang="en-US" sz="19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spc="-1" dirty="0">
                <a:latin typeface="Times New Roman"/>
              </a:rPr>
              <a:t> </a:t>
            </a:r>
            <a:r>
              <a:rPr lang="en-US" sz="1900" spc="-1" dirty="0" err="1">
                <a:latin typeface="Times New Roman"/>
              </a:rPr>
              <a:t>atmos_exec</a:t>
            </a:r>
            <a:endParaRPr lang="en-US" sz="1900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</a:t>
            </a:r>
            <a:r>
              <a:rPr lang="en-US" sz="1900" b="0" strike="noStrike" spc="-1" dirty="0" err="1">
                <a:latin typeface="Times New Roman"/>
              </a:rPr>
              <a:t>first_order_hold</a:t>
            </a:r>
            <a:endParaRPr lang="en-US" sz="19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spc="-1" dirty="0">
                <a:latin typeface="Times New Roman"/>
              </a:rPr>
              <a:t> </a:t>
            </a:r>
            <a:r>
              <a:rPr lang="en-US" sz="1900" spc="-1" dirty="0" err="1">
                <a:latin typeface="Times New Roman"/>
              </a:rPr>
              <a:t>secondary_chute_atmosphere</a:t>
            </a:r>
            <a:endParaRPr lang="en-US" sz="1900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chute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spc="-1" dirty="0">
                <a:latin typeface="Times New Roman"/>
              </a:rPr>
              <a:t> </a:t>
            </a:r>
            <a:r>
              <a:rPr lang="en-US" sz="1900" spc="-1" dirty="0" err="1">
                <a:latin typeface="Times New Roman"/>
              </a:rPr>
              <a:t>eg_chute</a:t>
            </a:r>
            <a:endParaRPr lang="en-US" sz="19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900" b="0" strike="noStrike" spc="-1" dirty="0">
                <a:latin typeface="Times New Roman"/>
              </a:rPr>
              <a:t>CEV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</a:t>
            </a:r>
            <a:r>
              <a:rPr lang="en-US" sz="1900" b="0" strike="noStrike" spc="-1" dirty="0" err="1">
                <a:latin typeface="Times New Roman"/>
              </a:rPr>
              <a:t>eg_chute</a:t>
            </a:r>
            <a:endParaRPr lang="en-US" sz="19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spc="-1" dirty="0">
                <a:latin typeface="Times New Roman"/>
              </a:rPr>
              <a:t> </a:t>
            </a:r>
            <a:r>
              <a:rPr lang="en-US" sz="1900" spc="-1" dirty="0" err="1">
                <a:latin typeface="Times New Roman"/>
              </a:rPr>
              <a:t>chute_manager</a:t>
            </a:r>
            <a:endParaRPr lang="en-US" sz="1900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</a:t>
            </a:r>
            <a:r>
              <a:rPr lang="en-US" sz="1900" spc="-1" dirty="0" err="1">
                <a:latin typeface="Times New Roman"/>
              </a:rPr>
              <a:t>a</a:t>
            </a:r>
            <a:r>
              <a:rPr lang="en-US" sz="1900" b="0" strike="noStrike" spc="-1" dirty="0" err="1">
                <a:latin typeface="Times New Roman"/>
              </a:rPr>
              <a:t>ntares_extended_planetary_derived_state</a:t>
            </a:r>
            <a:endParaRPr lang="en-US" sz="19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900" spc="-1" dirty="0">
                <a:latin typeface="Times New Roman"/>
              </a:rPr>
              <a:t>Grok</a:t>
            </a:r>
            <a:endParaRPr lang="en-US" sz="19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</a:t>
            </a:r>
            <a:r>
              <a:rPr lang="en-US" sz="1900" b="0" strike="noStrike" spc="-1" dirty="0" err="1">
                <a:latin typeface="Times New Roman"/>
              </a:rPr>
              <a:t>grok_state</a:t>
            </a:r>
            <a:endParaRPr lang="en-US" sz="1900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</a:t>
            </a:r>
            <a:r>
              <a:rPr lang="en-US" sz="1900" b="0" strike="noStrike" spc="-1" dirty="0" err="1">
                <a:latin typeface="Times New Roman"/>
              </a:rPr>
              <a:t>grok_vehicle</a:t>
            </a:r>
            <a:endParaRPr lang="en-US" sz="19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spc="-1" dirty="0">
                <a:latin typeface="Times New Roman"/>
              </a:rPr>
              <a:t> </a:t>
            </a:r>
            <a:r>
              <a:rPr lang="en-US" sz="1900" spc="-1" dirty="0" err="1">
                <a:latin typeface="Times New Roman"/>
              </a:rPr>
              <a:t>grok_main</a:t>
            </a:r>
            <a:endParaRPr lang="en-US" sz="19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Assumptions and Limitations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0000"/>
                </a:solidFill>
                <a:latin typeface="Times New Roman"/>
              </a:rPr>
              <a:t>A v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ector with a magnitude less than std::</a:t>
            </a:r>
            <a:r>
              <a:rPr lang="en-US" sz="1800" b="0" strike="noStrike" spc="-1" dirty="0" err="1">
                <a:solidFill>
                  <a:srgbClr val="000000"/>
                </a:solidFill>
                <a:latin typeface="Times New Roman"/>
              </a:rPr>
              <a:t>numeric_limits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&lt;double&gt;::min() is zero.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The orientation of planet depends on the models of planet and RNP in JEOD.</a:t>
            </a:r>
            <a:endParaRPr lang="en-US" sz="18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Antares Project Status</a:t>
            </a: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Antares Requirements Sections E.1.2, F.1.1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Model Locations: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cml/models/dynamics/</a:t>
            </a:r>
            <a:r>
              <a:rPr lang="en-US" sz="1800" b="0" strike="noStrike" spc="-1" dirty="0" err="1">
                <a:latin typeface="Times New Roman"/>
              </a:rPr>
              <a:t>state_descriptors</a:t>
            </a:r>
            <a:r>
              <a:rPr lang="en-US" sz="1800" b="0" strike="noStrike" spc="-1" dirty="0">
                <a:latin typeface="Times New Roman"/>
              </a:rPr>
              <a:t>/</a:t>
            </a:r>
            <a:r>
              <a:rPr lang="en-US" sz="1800" b="0" strike="noStrike" spc="-1" dirty="0" err="1">
                <a:latin typeface="Times New Roman"/>
              </a:rPr>
              <a:t>extended_planetary_derived_state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Recent Merge Requests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B0F0"/>
                </a:solidFill>
                <a:latin typeface="Times New Roman"/>
              </a:rPr>
              <a:t> !7310 (V&amp;V)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B0F0"/>
                </a:solidFill>
                <a:latin typeface="Times New Roman"/>
              </a:rPr>
              <a:t> !6758 (JEOD to CML message)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 </a:t>
            </a:r>
            <a:r>
              <a:rPr lang="en-US" sz="1800" b="0" strike="noStrike" spc="-1" dirty="0">
                <a:solidFill>
                  <a:srgbClr val="00B0F0"/>
                </a:solidFill>
                <a:latin typeface="Times New Roman"/>
              </a:rPr>
              <a:t>!4751 (point-to-point capability)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Most Recent Commit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 err="1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A.Masset</a:t>
            </a:r>
            <a:r>
              <a:rPr lang="en-US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11/04/25</a:t>
            </a: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Adding subscribe </a:t>
            </a:r>
            <a:r>
              <a:rPr lang="en-US" b="0" i="0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pt_to_pt</a:t>
            </a:r>
            <a:r>
              <a:rPr lang="en-US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assert. Adding </a:t>
            </a:r>
            <a:r>
              <a:rPr lang="en-US" b="0" i="0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</a:t>
            </a:r>
            <a:r>
              <a:rPr lang="en-US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that </a:t>
            </a:r>
            <a:r>
              <a:rPr lang="en-US" b="0" i="0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pt_to_pt</a:t>
            </a:r>
            <a:r>
              <a:rPr lang="en-US" b="0" i="0" dirty="0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model can be run </a:t>
            </a:r>
            <a:r>
              <a:rPr lang="en-US" b="0" i="0" dirty="0" err="1">
                <a:solidFill>
                  <a:srgbClr val="00B0F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midsim</a:t>
            </a:r>
            <a:endParaRPr lang="en-US" b="0" i="0" dirty="0">
              <a:solidFill>
                <a:srgbClr val="00B0F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40000" lvl="1">
              <a:buClr>
                <a:srgbClr val="000000"/>
              </a:buClr>
              <a:buSzPct val="75000"/>
            </a:pPr>
            <a:r>
              <a:rPr lang="en-US" strike="noStrike" spc="-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53aa2d6b669856b4a1decfb8e0c33e97f6a901a0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1188000" y="135000"/>
            <a:ext cx="7769880" cy="36936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Inheritance and Dependencies</a:t>
            </a: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Inheritance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JEOD </a:t>
            </a:r>
            <a:r>
              <a:rPr lang="en-US" spc="-1" dirty="0" err="1">
                <a:solidFill>
                  <a:srgbClr val="000000"/>
                </a:solidFill>
                <a:latin typeface="Times New Roman"/>
              </a:rPr>
              <a:t>PlanetaryDerivedState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Code Dependencies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900" b="0" strike="noStrike" spc="-1" dirty="0">
                <a:latin typeface="Times New Roman"/>
              </a:rPr>
              <a:t>CML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Subscriptions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spc="-1" dirty="0">
                <a:solidFill>
                  <a:schemeClr val="tx1"/>
                </a:solidFill>
                <a:latin typeface="Times New Roman"/>
              </a:rPr>
              <a:t> </a:t>
            </a:r>
            <a:r>
              <a:rPr lang="en-US" sz="1900" spc="-1" dirty="0" err="1">
                <a:solidFill>
                  <a:schemeClr val="tx1"/>
                </a:solidFill>
                <a:latin typeface="Times New Roman"/>
              </a:rPr>
              <a:t>Math_utils</a:t>
            </a:r>
            <a:endParaRPr lang="en-US" sz="1900" spc="-1" dirty="0">
              <a:solidFill>
                <a:schemeClr val="tx1"/>
              </a:solidFill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Range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CML Message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900" b="0" strike="noStrike" spc="-1" dirty="0">
                <a:latin typeface="Times New Roman"/>
              </a:rPr>
              <a:t>JEOD v3.4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</a:t>
            </a:r>
            <a:r>
              <a:rPr lang="en-US" sz="1900" b="0" strike="noStrike" spc="-1" dirty="0" err="1">
                <a:latin typeface="Times New Roman"/>
              </a:rPr>
              <a:t>planet_fixed</a:t>
            </a:r>
            <a:endParaRPr lang="en-US" sz="19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spc="-1" dirty="0">
                <a:latin typeface="Times New Roman"/>
              </a:rPr>
              <a:t> </a:t>
            </a:r>
            <a:r>
              <a:rPr lang="en-US" sz="1900" spc="-1" dirty="0" err="1">
                <a:latin typeface="Times New Roman"/>
              </a:rPr>
              <a:t>ref_frames</a:t>
            </a:r>
            <a:endParaRPr lang="en-US" sz="1900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</a:t>
            </a:r>
            <a:r>
              <a:rPr lang="en-US" sz="1900" b="0" strike="noStrike" spc="-1" dirty="0" err="1">
                <a:latin typeface="Times New Roman"/>
              </a:rPr>
              <a:t>dyn_body</a:t>
            </a:r>
            <a:endParaRPr lang="en-US" sz="19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spc="-1" dirty="0">
                <a:latin typeface="Times New Roman"/>
              </a:rPr>
              <a:t> Vector3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spc="-1" dirty="0">
                <a:latin typeface="Times New Roman"/>
              </a:rPr>
              <a:t> Matrix3x3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900" b="0" strike="noStrike" spc="-1" dirty="0">
                <a:latin typeface="Times New Roman"/>
              </a:rPr>
              <a:t> orientation</a:t>
            </a: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endParaRPr lang="en-US" sz="18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Model Inventory</a:t>
            </a: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4550194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85000" lnSpcReduction="20000"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Documentation (docs/)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 err="1">
                <a:latin typeface="Times New Roman"/>
              </a:rPr>
              <a:t>extended_planetary_derived_state.odt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extended_planetary_derived_state.pdf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extended_planetary_derived_state_presentation_VV.pptx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extended_planetary_derived</a:t>
            </a:r>
            <a:r>
              <a:rPr lang="en-US" spc="-1" dirty="0">
                <a:latin typeface="Times New Roman"/>
              </a:rPr>
              <a:t>_state_presentation_VV.pdf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Headers (include/)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 err="1">
                <a:latin typeface="Times New Roman"/>
              </a:rPr>
              <a:t>extended_planetary_derived_state.hh</a:t>
            </a:r>
            <a:endParaRPr lang="en-US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 err="1">
                <a:solidFill>
                  <a:srgbClr val="00B0F0"/>
                </a:solidFill>
                <a:latin typeface="Times New Roman"/>
              </a:rPr>
              <a:t>point_to_point.hh</a:t>
            </a:r>
            <a:endParaRPr lang="en-US" sz="1800" b="0" strike="noStrike" spc="-1" dirty="0">
              <a:solidFill>
                <a:srgbClr val="00B0F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 err="1">
                <a:latin typeface="Times New Roman"/>
              </a:rPr>
              <a:t>range_safety_data.hh</a:t>
            </a:r>
            <a:endParaRPr lang="en-US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 err="1">
                <a:latin typeface="Times New Roman"/>
              </a:rPr>
              <a:t>topo_container.hh</a:t>
            </a: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 err="1">
                <a:latin typeface="Times New Roman"/>
              </a:rPr>
              <a:t>velocity_set.hh</a:t>
            </a:r>
            <a:endParaRPr lang="en-US" sz="18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Source code (</a:t>
            </a:r>
            <a:r>
              <a:rPr lang="en-US" sz="2200" b="0" strike="noStrike" spc="-1" dirty="0" err="1">
                <a:latin typeface="Times New Roman"/>
              </a:rPr>
              <a:t>src</a:t>
            </a:r>
            <a:r>
              <a:rPr lang="en-US" sz="2200" b="0" strike="noStrike" spc="-1" dirty="0">
                <a:latin typeface="Times New Roman"/>
              </a:rPr>
              <a:t>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extended_planetary_derived_state.cc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B0F0"/>
                </a:solidFill>
                <a:latin typeface="Times New Roman"/>
              </a:rPr>
              <a:t>point_to_point.cc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range_safety_data.cc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topo_container.cc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latin typeface="Times New Roman"/>
              </a:rPr>
              <a:t>velocity_set.cc</a:t>
            </a:r>
            <a:endParaRPr lang="en-US" sz="1800" b="0" strike="noStrike" spc="-1" dirty="0">
              <a:latin typeface="Times New Roman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4935960" y="1005480"/>
            <a:ext cx="475344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47500" lnSpcReduction="20000"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Verification (</a:t>
            </a:r>
            <a:r>
              <a:rPr lang="en-US" sz="2200" b="0" strike="noStrike" spc="-1" dirty="0" err="1">
                <a:latin typeface="Times New Roman"/>
              </a:rPr>
              <a:t>verif</a:t>
            </a:r>
            <a:r>
              <a:rPr lang="en-US" sz="2200" b="0" strike="noStrike" spc="-1" dirty="0">
                <a:latin typeface="Times New Roman"/>
              </a:rPr>
              <a:t>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 err="1">
                <a:latin typeface="Times New Roman"/>
              </a:rPr>
              <a:t>SIM_ei_entry</a:t>
            </a:r>
            <a:endParaRPr lang="en-US" sz="18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Log_data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RUN_ei_entry</a:t>
            </a:r>
            <a:endParaRPr lang="en-US" sz="1600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 err="1">
                <a:latin typeface="Times New Roman"/>
              </a:rPr>
              <a:t>SIM_</a:t>
            </a:r>
            <a:r>
              <a:rPr lang="en-US" spc="-1" dirty="0" err="1">
                <a:latin typeface="Times New Roman"/>
              </a:rPr>
              <a:t>planet_rel</a:t>
            </a:r>
            <a:endParaRPr lang="en-US" sz="1800" b="0" strike="noStrike" spc="-1" dirty="0">
              <a:latin typeface="Times New Roman"/>
            </a:endParaRPr>
          </a:p>
          <a:p>
            <a:pPr marL="1296000" lvl="2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Log_data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Modified_data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solidFill>
                  <a:srgbClr val="00B0F0"/>
                </a:solidFill>
                <a:latin typeface="Times New Roman"/>
              </a:rPr>
              <a:t> </a:t>
            </a:r>
            <a:r>
              <a:rPr lang="en-US" sz="1600" spc="-1" dirty="0" err="1">
                <a:solidFill>
                  <a:srgbClr val="00B0F0"/>
                </a:solidFill>
                <a:latin typeface="Times New Roman"/>
              </a:rPr>
              <a:t>ERROR_point_to_point</a:t>
            </a:r>
            <a:endParaRPr lang="en-US" sz="1600" spc="-1" dirty="0">
              <a:solidFill>
                <a:srgbClr val="00B0F0"/>
              </a:solidFill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FAIL_vel_set_init_NULL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RUN_all_on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RUN</a:t>
            </a:r>
            <a:r>
              <a:rPr lang="en-US" sz="1600" spc="-1" dirty="0" err="1">
                <a:latin typeface="Times New Roman"/>
              </a:rPr>
              <a:t>_baseline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RUN_boost_plumbline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RUN_boostref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RUN_double_inits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RUN_entry_range__</a:t>
            </a:r>
            <a:r>
              <a:rPr lang="en-US" sz="1600" b="0" strike="noStrike" spc="-1" dirty="0" err="1">
                <a:latin typeface="Times New Roman"/>
              </a:rPr>
              <a:t>common_ref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RUN_entry_range__</a:t>
            </a:r>
            <a:r>
              <a:rPr lang="en-US" sz="1600" spc="-1" dirty="0" err="1">
                <a:latin typeface="Times New Roman"/>
              </a:rPr>
              <a:t>initial_ref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RUN_entry_range__</a:t>
            </a:r>
            <a:r>
              <a:rPr lang="en-US" sz="1600" b="0" strike="noStrike" spc="-1" dirty="0" err="1">
                <a:latin typeface="Times New Roman"/>
              </a:rPr>
              <a:t>midsim_ref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RUN_hangroll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RUN_inrtl_pfix_misaligned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RUN_landing_range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RUN_launch_range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RUN_plumbline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solidFill>
                  <a:srgbClr val="00B0F0"/>
                </a:solidFill>
                <a:latin typeface="Times New Roman"/>
              </a:rPr>
              <a:t> </a:t>
            </a:r>
            <a:r>
              <a:rPr lang="en-US" sz="1600" spc="-1" dirty="0" err="1">
                <a:solidFill>
                  <a:srgbClr val="00B0F0"/>
                </a:solidFill>
                <a:latin typeface="Times New Roman"/>
              </a:rPr>
              <a:t>RUN_point_to_point</a:t>
            </a:r>
            <a:endParaRPr lang="en-US" sz="1600" spc="-1" dirty="0">
              <a:solidFill>
                <a:srgbClr val="00B0F0"/>
              </a:solidFill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RUN_range_safety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RUN_</a:t>
            </a:r>
            <a:r>
              <a:rPr lang="en-US" sz="1600" spc="-1" dirty="0" err="1">
                <a:latin typeface="Times New Roman"/>
              </a:rPr>
              <a:t>rel_vel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RUN_submodel</a:t>
            </a:r>
            <a:r>
              <a:rPr lang="en-US" sz="1600" spc="-1" dirty="0" err="1">
                <a:latin typeface="Times New Roman"/>
              </a:rPr>
              <a:t>s_on_midrun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RUN_topocentric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RUN_topocentric__</a:t>
            </a:r>
            <a:r>
              <a:rPr lang="en-US" sz="1600" b="0" strike="noStrike" spc="-1" dirty="0" err="1">
                <a:latin typeface="Times New Roman"/>
              </a:rPr>
              <a:t>with_rel_vel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RUN_topocentric_altitude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RUN_topocentric_topodetic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</a:t>
            </a:r>
            <a:r>
              <a:rPr lang="en-US" sz="1600" spc="-1" dirty="0" err="1">
                <a:latin typeface="Times New Roman"/>
              </a:rPr>
              <a:t>RUN_topodetic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latin typeface="Times New Roman"/>
              </a:rPr>
              <a:t> RUN_</a:t>
            </a:r>
            <a:r>
              <a:rPr lang="en-US" sz="1600" spc="-1" dirty="0" err="1">
                <a:latin typeface="Times New Roman"/>
              </a:rPr>
              <a:t>topodetic</a:t>
            </a:r>
            <a:r>
              <a:rPr lang="en-US" sz="1600" spc="-1" dirty="0">
                <a:latin typeface="Times New Roman"/>
              </a:rPr>
              <a:t>__</a:t>
            </a:r>
            <a:r>
              <a:rPr lang="en-US" sz="1600" spc="-1" dirty="0" err="1">
                <a:latin typeface="Times New Roman"/>
              </a:rPr>
              <a:t>with_rel_vel</a:t>
            </a:r>
            <a:endParaRPr lang="en-US" sz="1600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b="0" strike="noStrike" spc="-1" dirty="0">
                <a:latin typeface="Times New Roman"/>
              </a:rPr>
              <a:t> </a:t>
            </a:r>
            <a:r>
              <a:rPr lang="en-US" sz="1600" b="0" strike="noStrike" spc="-1" dirty="0" err="1">
                <a:latin typeface="Times New Roman"/>
              </a:rPr>
              <a:t>RUN_warning_check</a:t>
            </a:r>
            <a:endParaRPr lang="en-US" sz="1600" b="0" strike="noStrike" spc="-1" dirty="0">
              <a:latin typeface="Times New Roman"/>
            </a:endParaRPr>
          </a:p>
          <a:p>
            <a:pPr marL="1296000" lvl="8" indent="-288000">
              <a:buClr>
                <a:srgbClr val="000000"/>
              </a:buClr>
              <a:buSzPct val="45000"/>
              <a:buFont typeface="Wingdings 3" charset="2"/>
              <a:buChar char=""/>
            </a:pPr>
            <a:r>
              <a:rPr lang="en-US" sz="1600" spc="-1" dirty="0">
                <a:solidFill>
                  <a:srgbClr val="00B0F0"/>
                </a:solidFill>
                <a:latin typeface="Times New Roman"/>
              </a:rPr>
              <a:t> common_input.py</a:t>
            </a:r>
            <a:endParaRPr lang="en-US" sz="1600" b="0" strike="noStrike" spc="-1" dirty="0">
              <a:solidFill>
                <a:srgbClr val="00B0F0"/>
              </a:solidFill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latin typeface="Times New Roman"/>
              </a:rPr>
              <a:t>Validation (validation/)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latin typeface="Times New Roman"/>
              </a:rPr>
              <a:t>None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  <a:ea typeface="Noto Sans CJK SC"/>
              </a:rPr>
              <a:t>Code Review : </a:t>
            </a: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Coding Standards Compliance</a:t>
            </a: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>
                <a:solidFill>
                  <a:srgbClr val="000000"/>
                </a:solidFill>
                <a:latin typeface="Times New Roman"/>
              </a:rPr>
              <a:t>Model is compliant</a:t>
            </a:r>
            <a:endParaRPr lang="en-US" sz="2200" b="0" strike="noStrike" spc="-1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Architecture Review</a:t>
            </a:r>
          </a:p>
        </p:txBody>
      </p:sp>
      <p:sp>
        <p:nvSpPr>
          <p:cNvPr id="113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lnSpcReduction="10000"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Class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ExtendedPlanetaryDerivedState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pc="-1" dirty="0">
                <a:solidFill>
                  <a:srgbClr val="000000"/>
                </a:solidFill>
                <a:latin typeface="Times New Roman"/>
              </a:rPr>
              <a:t>Main class where other objects are instantiated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0000"/>
                </a:solidFill>
                <a:latin typeface="Times New Roman"/>
              </a:rPr>
              <a:t> Provides several options to express the state relative to a planet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b="0" strike="noStrike" spc="-1" dirty="0">
                <a:solidFill>
                  <a:srgbClr val="00B0F0"/>
                </a:solidFill>
                <a:latin typeface="Times New Roman"/>
              </a:rPr>
              <a:t> Added </a:t>
            </a:r>
            <a:r>
              <a:rPr lang="en-US" b="0" strike="noStrike" spc="-1" dirty="0" err="1">
                <a:solidFill>
                  <a:srgbClr val="00B0F0"/>
                </a:solidFill>
                <a:latin typeface="Times New Roman"/>
              </a:rPr>
              <a:t>subscribe_pt_to_pt</a:t>
            </a:r>
            <a:r>
              <a:rPr lang="en-US" b="0" strike="noStrike" spc="-1" dirty="0">
                <a:solidFill>
                  <a:srgbClr val="00B0F0"/>
                </a:solidFill>
                <a:latin typeface="Times New Roman"/>
              </a:rPr>
              <a:t>()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Ad</a:t>
            </a:r>
            <a:r>
              <a:rPr lang="en-US" b="0" strike="noStrike" spc="-1" dirty="0">
                <a:solidFill>
                  <a:srgbClr val="00B0F0"/>
                </a:solidFill>
                <a:latin typeface="Times New Roman"/>
              </a:rPr>
              <a:t>ded </a:t>
            </a:r>
            <a:r>
              <a:rPr lang="en-US" b="0" strike="noStrike" spc="-1" dirty="0" err="1">
                <a:solidFill>
                  <a:srgbClr val="00B0F0"/>
                </a:solidFill>
                <a:latin typeface="Times New Roman"/>
              </a:rPr>
              <a:t>unsubscribe_pt_to_pt</a:t>
            </a:r>
            <a:r>
              <a:rPr lang="en-US" b="0" strike="noStrike" spc="-1" dirty="0">
                <a:solidFill>
                  <a:srgbClr val="00B0F0"/>
                </a:solidFill>
                <a:latin typeface="Times New Roman"/>
              </a:rPr>
              <a:t>()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A</a:t>
            </a:r>
            <a:r>
              <a:rPr lang="en-US" b="0" strike="noStrike" spc="-1" dirty="0">
                <a:solidFill>
                  <a:srgbClr val="00B0F0"/>
                </a:solidFill>
                <a:latin typeface="Times New Roman"/>
              </a:rPr>
              <a:t>dded </a:t>
            </a:r>
            <a:r>
              <a:rPr lang="en-US" b="0" strike="noStrike" spc="-1" dirty="0" err="1">
                <a:solidFill>
                  <a:srgbClr val="00B0F0"/>
                </a:solidFill>
                <a:latin typeface="Times New Roman"/>
              </a:rPr>
              <a:t>is_pt_to_pt_subscribed</a:t>
            </a:r>
            <a:r>
              <a:rPr lang="en-US" b="0" strike="noStrike" spc="-1" dirty="0">
                <a:solidFill>
                  <a:srgbClr val="00B0F0"/>
                </a:solidFill>
                <a:latin typeface="Times New Roman"/>
              </a:rPr>
              <a:t>()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A</a:t>
            </a:r>
            <a:r>
              <a:rPr lang="en-US" b="0" strike="noStrike" spc="-1" dirty="0">
                <a:solidFill>
                  <a:srgbClr val="00B0F0"/>
                </a:solidFill>
                <a:latin typeface="Times New Roman"/>
              </a:rPr>
              <a:t>dded </a:t>
            </a:r>
            <a:r>
              <a:rPr lang="en-US" b="0" strike="noStrike" spc="-1" dirty="0" err="1">
                <a:solidFill>
                  <a:srgbClr val="00B0F0"/>
                </a:solidFill>
                <a:latin typeface="Times New Roman"/>
              </a:rPr>
              <a:t>PointToPointManager</a:t>
            </a:r>
            <a:r>
              <a:rPr lang="en-US" b="0" strike="noStrike" spc="-1" dirty="0">
                <a:solidFill>
                  <a:srgbClr val="00B0F0"/>
                </a:solidFill>
                <a:latin typeface="Times New Roman"/>
              </a:rPr>
              <a:t> </a:t>
            </a:r>
            <a:r>
              <a:rPr lang="en-US" b="0" strike="noStrike" spc="-1" dirty="0" err="1">
                <a:solidFill>
                  <a:srgbClr val="00B0F0"/>
                </a:solidFill>
                <a:latin typeface="Times New Roman"/>
              </a:rPr>
              <a:t>submodel</a:t>
            </a:r>
            <a:r>
              <a:rPr lang="en-US" b="0" strike="noStrike" spc="-1" dirty="0">
                <a:solidFill>
                  <a:srgbClr val="00B0F0"/>
                </a:solidFill>
                <a:latin typeface="Times New Roman"/>
              </a:rPr>
              <a:t> instance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B0F0"/>
                </a:solidFill>
                <a:latin typeface="Times New Roman"/>
              </a:rPr>
              <a:t> Class </a:t>
            </a:r>
            <a:r>
              <a:rPr lang="en-US" sz="2200" b="0" strike="noStrike" spc="-1" dirty="0" err="1">
                <a:solidFill>
                  <a:srgbClr val="00B0F0"/>
                </a:solidFill>
                <a:latin typeface="Times New Roman"/>
              </a:rPr>
              <a:t>PointToPointElement</a:t>
            </a:r>
            <a:endParaRPr lang="en-US" sz="2200" b="0" strike="noStrike" spc="-1" dirty="0">
              <a:solidFill>
                <a:srgbClr val="00B0F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Gathers information (position and name) on a single point, either attached to a planet or to a vehicle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B0F0"/>
                </a:solidFill>
                <a:latin typeface="Times New Roman"/>
              </a:rPr>
              <a:t> Class </a:t>
            </a:r>
            <a:r>
              <a:rPr lang="en-US" sz="2200" b="0" strike="noStrike" spc="-1" dirty="0" err="1">
                <a:solidFill>
                  <a:srgbClr val="00B0F0"/>
                </a:solidFill>
                <a:latin typeface="Times New Roman"/>
              </a:rPr>
              <a:t>PointToPointPosition</a:t>
            </a:r>
            <a:endParaRPr lang="en-US" sz="2200" b="0" strike="noStrike" spc="-1" dirty="0">
              <a:solidFill>
                <a:srgbClr val="00B0F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 Relates two points through a relative position expressed in the planet-fixed frame</a:t>
            </a: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B0F0"/>
                </a:solidFill>
                <a:latin typeface="Times New Roman"/>
              </a:rPr>
              <a:t> Class </a:t>
            </a:r>
            <a:r>
              <a:rPr lang="en-US" sz="2200" b="0" strike="noStrike" spc="-1" dirty="0" err="1">
                <a:solidFill>
                  <a:srgbClr val="00B0F0"/>
                </a:solidFill>
                <a:latin typeface="Times New Roman"/>
              </a:rPr>
              <a:t>PointToPointManager</a:t>
            </a:r>
            <a:endParaRPr lang="en-US" sz="2200" b="0" strike="noStrike" spc="-1" dirty="0">
              <a:solidFill>
                <a:srgbClr val="00B0F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 Manages the list of points on the vehicle, the planet and their relative positions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pc="-1" dirty="0">
              <a:solidFill>
                <a:srgbClr val="00000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Code Review : Code Coverage </a:t>
            </a:r>
          </a:p>
        </p:txBody>
      </p:sp>
      <p:pic>
        <p:nvPicPr>
          <p:cNvPr id="3" name="Picture 2" descr="Graphical user interface&#10;&#10;AI-generated content may be incorrect.">
            <a:extLst>
              <a:ext uri="{FF2B5EF4-FFF2-40B4-BE49-F238E27FC236}">
                <a16:creationId xmlns:a16="http://schemas.microsoft.com/office/drawing/2014/main" id="{55FECCF8-E27B-62C7-6D0F-E646D61FBE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6609" y="1143000"/>
            <a:ext cx="6579084" cy="250466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B72C459-CAB4-62ED-C7CF-9BFD83D0EED3}"/>
              </a:ext>
            </a:extLst>
          </p:cNvPr>
          <p:cNvSpPr txBox="1"/>
          <p:nvPr/>
        </p:nvSpPr>
        <p:spPr>
          <a:xfrm>
            <a:off x="402534" y="4242381"/>
            <a:ext cx="503913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See exceptions in docs, Section 5.1.1</a:t>
            </a:r>
            <a:endParaRPr lang="en-US" sz="1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Initial Project Implementation</a:t>
            </a:r>
          </a:p>
        </p:txBody>
      </p:sp>
      <p:sp>
        <p:nvSpPr>
          <p:cNvPr id="116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Extensive use in many CML and CEV models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b="0" strike="noStrike" spc="-1" dirty="0" err="1">
                <a:solidFill>
                  <a:srgbClr val="00B0F0"/>
                </a:solidFill>
                <a:latin typeface="Times New Roman"/>
              </a:rPr>
              <a:t>PointToPointManager</a:t>
            </a:r>
            <a:r>
              <a:rPr lang="en-US" sz="2200" b="0" strike="noStrike" spc="-1" dirty="0">
                <a:solidFill>
                  <a:srgbClr val="00B0F0"/>
                </a:solidFill>
                <a:latin typeface="Times New Roman"/>
              </a:rPr>
              <a:t> added to </a:t>
            </a:r>
            <a:r>
              <a:rPr lang="en-US" sz="2200" b="0" strike="noStrike" spc="-1" dirty="0" err="1">
                <a:solidFill>
                  <a:srgbClr val="00B0F0"/>
                </a:solidFill>
                <a:latin typeface="Times New Roman"/>
              </a:rPr>
              <a:t>SIM_orion</a:t>
            </a:r>
            <a:endParaRPr lang="en-US" sz="2200" b="0" strike="noStrike" spc="-1" dirty="0">
              <a:solidFill>
                <a:srgbClr val="00B0F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relative_state.sm: </a:t>
            </a:r>
            <a:r>
              <a:rPr lang="en-US" i="1" spc="-1" dirty="0" err="1">
                <a:solidFill>
                  <a:srgbClr val="00B0F0"/>
                </a:solidFill>
                <a:latin typeface="Times New Roman"/>
              </a:rPr>
              <a:t>ground_to_cm</a:t>
            </a:r>
            <a:r>
              <a:rPr lang="en-US" i="1" spc="-1" dirty="0">
                <a:solidFill>
                  <a:srgbClr val="00B0F0"/>
                </a:solidFill>
                <a:latin typeface="Times New Roman"/>
              </a:rPr>
              <a:t> </a:t>
            </a:r>
            <a:r>
              <a:rPr lang="en-US" spc="-1" dirty="0">
                <a:solidFill>
                  <a:srgbClr val="00B0F0"/>
                </a:solidFill>
                <a:latin typeface="Times New Roman"/>
              </a:rPr>
              <a:t>(</a:t>
            </a:r>
            <a:r>
              <a:rPr lang="en-US" spc="-1" dirty="0" err="1">
                <a:solidFill>
                  <a:srgbClr val="00B0F0"/>
                </a:solidFill>
                <a:latin typeface="Times New Roman"/>
              </a:rPr>
              <a:t>pt_to_pt_manager</a:t>
            </a:r>
            <a:r>
              <a:rPr lang="en-US" spc="-1" dirty="0">
                <a:solidFill>
                  <a:srgbClr val="00B0F0"/>
                </a:solidFill>
                <a:latin typeface="Times New Roman"/>
              </a:rPr>
              <a:t>)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Not used anywhere 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endParaRPr lang="en-US" sz="1800" b="0" strike="noStrike" spc="-1" dirty="0">
              <a:latin typeface="Times New Roman"/>
            </a:endParaRPr>
          </a:p>
          <a:p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 dirty="0">
                <a:solidFill>
                  <a:srgbClr val="182F7C"/>
                </a:solidFill>
                <a:latin typeface="Arial"/>
              </a:rPr>
              <a:t>Verification: </a:t>
            </a:r>
            <a:r>
              <a:rPr lang="en-US" sz="2600" b="1" strike="noStrike" spc="-1" dirty="0" err="1">
                <a:solidFill>
                  <a:srgbClr val="182F7C"/>
                </a:solidFill>
                <a:latin typeface="Arial"/>
              </a:rPr>
              <a:t>SIM_verif</a:t>
            </a:r>
            <a:endParaRPr lang="en-US" sz="2600" b="1" strike="noStrike" spc="-1" dirty="0">
              <a:solidFill>
                <a:srgbClr val="182F7C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182520" y="914040"/>
            <a:ext cx="959796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SIM_entry_ei</a:t>
            </a:r>
            <a:endParaRPr lang="en-US" sz="22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2200" b="0" strike="noStrike" spc="-1" dirty="0" err="1">
                <a:solidFill>
                  <a:srgbClr val="000000"/>
                </a:solidFill>
                <a:latin typeface="Times New Roman"/>
              </a:rPr>
              <a:t>SIM_planet_rel</a:t>
            </a:r>
            <a:endParaRPr lang="en-US" sz="2200" b="0" strike="noStrike" spc="-1" dirty="0"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 </a:t>
            </a:r>
            <a:r>
              <a:rPr lang="en-US" sz="1800" b="0" strike="noStrike" spc="-1" dirty="0" err="1">
                <a:solidFill>
                  <a:srgbClr val="00B0F0"/>
                </a:solidFill>
                <a:latin typeface="Times New Roman"/>
              </a:rPr>
              <a:t>RUN_point_to_point</a:t>
            </a:r>
            <a:endParaRPr lang="en-US" sz="1800" b="0" strike="noStrike" spc="-1" dirty="0">
              <a:solidFill>
                <a:srgbClr val="00B0F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</a:t>
            </a:r>
            <a:r>
              <a:rPr lang="en-US" spc="-1" dirty="0" err="1">
                <a:solidFill>
                  <a:srgbClr val="00B0F0"/>
                </a:solidFill>
                <a:latin typeface="Times New Roman"/>
              </a:rPr>
              <a:t>ERROR_point_to_point</a:t>
            </a:r>
            <a:endParaRPr lang="en-US" sz="1800" b="0" strike="noStrike" spc="-1" dirty="0">
              <a:solidFill>
                <a:srgbClr val="00B0F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</a:rPr>
              <a:t> See docs, Chapter 5</a:t>
            </a:r>
            <a:endParaRPr lang="en-US" sz="1800" b="0" strike="noStrike" spc="-1" dirty="0">
              <a:latin typeface="Times New Roman"/>
            </a:endParaRPr>
          </a:p>
          <a:p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1188000" y="91080"/>
            <a:ext cx="7769880" cy="457200"/>
          </a:xfrm>
          <a:prstGeom prst="rect">
            <a:avLst/>
          </a:prstGeom>
          <a:solidFill>
            <a:srgbClr val="ADC5E7"/>
          </a:solidFill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US" sz="2600" b="1" strike="noStrike" spc="-1">
                <a:solidFill>
                  <a:srgbClr val="182F7C"/>
                </a:solidFill>
                <a:latin typeface="Arial"/>
              </a:rPr>
              <a:t>Follow-on Work</a:t>
            </a: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182520" y="1005480"/>
            <a:ext cx="9597960" cy="4023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spc="-1" dirty="0">
                <a:solidFill>
                  <a:srgbClr val="00B0F0"/>
                </a:solidFill>
                <a:latin typeface="Times New Roman"/>
              </a:rPr>
              <a:t>Documenting effect of rotations on </a:t>
            </a:r>
            <a:r>
              <a:rPr lang="en-US" sz="2200" spc="-1" dirty="0" err="1">
                <a:solidFill>
                  <a:srgbClr val="00B0F0"/>
                </a:solidFill>
                <a:latin typeface="Times New Roman"/>
              </a:rPr>
              <a:t>pt_to_pt</a:t>
            </a:r>
            <a:r>
              <a:rPr lang="en-US" sz="2200" spc="-1" dirty="0">
                <a:solidFill>
                  <a:srgbClr val="00B0F0"/>
                </a:solidFill>
                <a:latin typeface="Times New Roman"/>
              </a:rPr>
              <a:t> relative position</a:t>
            </a:r>
            <a:endParaRPr lang="en-US" sz="2200" b="0" strike="noStrike" spc="-1" dirty="0">
              <a:solidFill>
                <a:srgbClr val="00B0F0"/>
              </a:solidFill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 err="1">
                <a:solidFill>
                  <a:srgbClr val="00B0F0"/>
                </a:solidFill>
                <a:latin typeface="Times New Roman"/>
              </a:rPr>
              <a:t>Point_to_point</a:t>
            </a:r>
            <a:r>
              <a:rPr lang="en-US" sz="2200" spc="-1" dirty="0">
                <a:solidFill>
                  <a:srgbClr val="00B0F0"/>
                </a:solidFill>
                <a:latin typeface="Times New Roman"/>
              </a:rPr>
              <a:t>: Issue #2968</a:t>
            </a:r>
            <a:endParaRPr lang="en-US" spc="-1" dirty="0">
              <a:solidFill>
                <a:srgbClr val="00B0F0"/>
              </a:solidFill>
              <a:latin typeface="Times New Roman"/>
            </a:endParaRP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Relative positions are accessed through pointers to the </a:t>
            </a:r>
            <a:r>
              <a:rPr lang="en-US" i="1" spc="-1" dirty="0" err="1">
                <a:solidFill>
                  <a:srgbClr val="00B0F0"/>
                </a:solidFill>
                <a:latin typeface="Times New Roman"/>
              </a:rPr>
              <a:t>pt_to_pt_pos</a:t>
            </a:r>
            <a:r>
              <a:rPr lang="en-US" i="1" spc="-1" dirty="0">
                <a:solidFill>
                  <a:srgbClr val="00B0F0"/>
                </a:solidFill>
                <a:latin typeface="Times New Roman"/>
              </a:rPr>
              <a:t> </a:t>
            </a:r>
            <a:r>
              <a:rPr lang="en-US" spc="-1" dirty="0">
                <a:solidFill>
                  <a:srgbClr val="00B0F0"/>
                </a:solidFill>
                <a:latin typeface="Times New Roman"/>
              </a:rPr>
              <a:t>list|</a:t>
            </a:r>
            <a:br>
              <a:rPr lang="en-US" spc="-1" dirty="0">
                <a:solidFill>
                  <a:srgbClr val="00B0F0"/>
                </a:solidFill>
                <a:latin typeface="Times New Roman"/>
              </a:rPr>
            </a:br>
            <a:r>
              <a:rPr lang="en-US" spc="-1" dirty="0">
                <a:solidFill>
                  <a:srgbClr val="00B0F0"/>
                </a:solidFill>
                <a:latin typeface="Times New Roman"/>
              </a:rPr>
              <a:t>If multiple models access this list, and relative positions are removed: pointers are left dangling</a:t>
            </a:r>
          </a:p>
          <a:p>
            <a:pPr marL="864000" lvl="1" indent="-324000">
              <a:buClr>
                <a:srgbClr val="000000"/>
              </a:buClr>
              <a:buSzPct val="75000"/>
              <a:buFont typeface="Wingdings" charset="2"/>
              <a:buChar char=""/>
            </a:pPr>
            <a:r>
              <a:rPr lang="en-US" spc="-1" dirty="0">
                <a:solidFill>
                  <a:srgbClr val="00B0F0"/>
                </a:solidFill>
                <a:latin typeface="Times New Roman"/>
              </a:rPr>
              <a:t> Using external double*[</a:t>
            </a:r>
            <a:r>
              <a:rPr lang="en-US" spc="-1" dirty="0" err="1">
                <a:solidFill>
                  <a:srgbClr val="00B0F0"/>
                </a:solidFill>
                <a:latin typeface="Times New Roman"/>
              </a:rPr>
              <a:t>num_pts</a:t>
            </a:r>
            <a:r>
              <a:rPr lang="en-US" spc="-1" dirty="0">
                <a:solidFill>
                  <a:srgbClr val="00B0F0"/>
                </a:solidFill>
                <a:latin typeface="Times New Roman"/>
              </a:rPr>
              <a:t>] array to log relative positions</a:t>
            </a:r>
            <a:br>
              <a:rPr lang="en-US" spc="-1" dirty="0">
                <a:solidFill>
                  <a:srgbClr val="00B0F0"/>
                </a:solidFill>
                <a:latin typeface="Times New Roman"/>
              </a:rPr>
            </a:br>
            <a:r>
              <a:rPr lang="en-US" spc="-1" dirty="0">
                <a:solidFill>
                  <a:srgbClr val="00B0F0"/>
                </a:solidFill>
                <a:latin typeface="Times New Roman"/>
              </a:rPr>
              <a:t>Same issue as above</a:t>
            </a:r>
          </a:p>
          <a:p>
            <a:pPr marL="109800" lvl="1">
              <a:spcBef>
                <a:spcPts val="357"/>
              </a:spcBef>
              <a:buClr>
                <a:srgbClr val="000000"/>
              </a:buClr>
              <a:buSzPct val="45000"/>
            </a:pPr>
            <a:endParaRPr lang="en-US" sz="100" b="0" strike="noStrike" spc="-1" dirty="0"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b="0" strike="noStrike" spc="-1" dirty="0">
                <a:solidFill>
                  <a:srgbClr val="00B0F0"/>
                </a:solidFill>
                <a:latin typeface="Times New Roman"/>
              </a:rPr>
              <a:t>FIXME: range_safety_data.hh:38</a:t>
            </a:r>
            <a:endParaRPr lang="en-US" spc="-1" dirty="0">
              <a:solidFill>
                <a:srgbClr val="00B0F0"/>
              </a:solidFill>
              <a:latin typeface="Times New Roman"/>
            </a:endParaRPr>
          </a:p>
          <a:p>
            <a:pPr marL="429840" indent="-320040">
              <a:spcBef>
                <a:spcPts val="357"/>
              </a:spcBef>
              <a:buClr>
                <a:srgbClr val="000000"/>
              </a:buClr>
              <a:buSzPct val="45000"/>
              <a:buFont typeface="Wingdings" charset="2"/>
              <a:buChar char=""/>
            </a:pPr>
            <a:r>
              <a:rPr lang="en-US" sz="2200" spc="-1" dirty="0">
                <a:solidFill>
                  <a:srgbClr val="00B0F0"/>
                </a:solidFill>
                <a:latin typeface="Times New Roman"/>
              </a:rPr>
              <a:t>3 </a:t>
            </a:r>
            <a:r>
              <a:rPr lang="en-US" sz="2200" b="0" strike="noStrike" spc="-1" dirty="0" err="1">
                <a:solidFill>
                  <a:srgbClr val="00B0F0"/>
                </a:solidFill>
                <a:latin typeface="Times New Roman"/>
              </a:rPr>
              <a:t>ToDOs</a:t>
            </a:r>
            <a:r>
              <a:rPr lang="en-US" sz="2200" b="0" strike="noStrike" spc="-1" dirty="0">
                <a:solidFill>
                  <a:srgbClr val="00B0F0"/>
                </a:solidFill>
                <a:latin typeface="Times New Roman"/>
              </a:rPr>
              <a:t>: extended_planetary_derived_state.cc</a:t>
            </a:r>
            <a:endParaRPr lang="en-US" spc="-1" dirty="0">
              <a:solidFill>
                <a:srgbClr val="00B0F0"/>
              </a:solidFill>
              <a:latin typeface="Times New Roman"/>
            </a:endParaRPr>
          </a:p>
          <a:p>
            <a:endParaRPr lang="en-US" sz="2200" b="0" strike="noStrike" spc="-1" dirty="0"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21856</TotalTime>
  <Words>1059</Words>
  <Application>Microsoft Office PowerPoint</Application>
  <PresentationFormat>Custom</PresentationFormat>
  <Paragraphs>164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</vt:lpstr>
      <vt:lpstr>Courier New</vt:lpstr>
      <vt:lpstr>Symbol</vt:lpstr>
      <vt:lpstr>Times New Roman</vt:lpstr>
      <vt:lpstr>Wingdings</vt:lpstr>
      <vt:lpstr>Wingdings 3</vt:lpstr>
      <vt:lpstr>Office Theme</vt:lpstr>
      <vt:lpstr>Office Theme</vt:lpstr>
      <vt:lpstr>PowerPoint Presentation</vt:lpstr>
      <vt:lpstr>Outline</vt:lpstr>
      <vt:lpstr>Model Purpose and Use</vt:lpstr>
      <vt:lpstr>Antares Project Status</vt:lpstr>
      <vt:lpstr>Code Inheritance and Dependencies</vt:lpstr>
      <vt:lpstr>Model Inventory</vt:lpstr>
      <vt:lpstr>Code Review : Coding Standards Compliance</vt:lpstr>
      <vt:lpstr>Code Review : Architecture Review</vt:lpstr>
      <vt:lpstr>Code Review : Code Coverage </vt:lpstr>
      <vt:lpstr>Initial Project Implementation</vt:lpstr>
      <vt:lpstr>Verification: SIM_verif</vt:lpstr>
      <vt:lpstr>Follow-on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V&amp;V Presentation Template</dc:title>
  <dc:subject/>
  <dc:creator>Masset, Alexandre K. (JSC-EG211)[Odyssey Space Research L.L.C.]</dc:creator>
  <dc:description/>
  <cp:lastModifiedBy>Masset, Alexandre K. (JSC-EG211)[Odyssey Space Research L.L.C.]</cp:lastModifiedBy>
  <cp:revision>35</cp:revision>
  <dcterms:created xsi:type="dcterms:W3CDTF">2024-02-20T08:36:01Z</dcterms:created>
  <dcterms:modified xsi:type="dcterms:W3CDTF">2025-12-02T19:54:26Z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">
    <vt:lpwstr>Gary Turner</vt:lpwstr>
  </property>
  <property fmtid="{D5CDD505-2E9C-101B-9397-08002B2CF9AE}" pid="3" name="Initial Date">
    <vt:lpwstr>February 2024</vt:lpwstr>
  </property>
  <property fmtid="{D5CDD505-2E9C-101B-9397-08002B2CF9AE}" pid="4" name="Organization">
    <vt:lpwstr>Odyssey Space Research</vt:lpwstr>
  </property>
</Properties>
</file>