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47" d="100"/>
          <a:sy n="147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92560" y="829080"/>
            <a:ext cx="7446960" cy="40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move the slide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63280" y="5183280"/>
            <a:ext cx="6905880" cy="491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7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dt"/>
          </p:nvPr>
        </p:nvSpPr>
        <p:spPr>
          <a:xfrm>
            <a:off x="488592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ftr"/>
          </p:nvPr>
        </p:nvSpPr>
        <p:spPr>
          <a:xfrm>
            <a:off x="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sldNum"/>
          </p:nvPr>
        </p:nvSpPr>
        <p:spPr>
          <a:xfrm>
            <a:off x="488592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31C97FCD-0B7D-48EB-B144-F2E92E5975D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402800" y="9553680"/>
            <a:ext cx="3346920" cy="4824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880" tIns="46440" rIns="92880" bIns="4644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064F1FE-B692-45B1-84E4-F7702D56A96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777600" y="4777560"/>
            <a:ext cx="6196320" cy="4505760"/>
          </a:xfrm>
          <a:prstGeom prst="rect">
            <a:avLst/>
          </a:prstGeom>
          <a:noFill/>
          <a:ln w="0">
            <a:noFill/>
          </a:ln>
        </p:spPr>
        <p:txBody>
          <a:bodyPr lIns="92880" tIns="46440" rIns="92880" bIns="46440" anchor="t">
            <a:noAutofit/>
          </a:bodyPr>
          <a:lstStyle/>
          <a:p>
            <a:endParaRPr lang="en-US" sz="287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Click to edit the outline text format</a:t>
            </a:r>
          </a:p>
          <a:p>
            <a:pPr marL="882900" lvl="1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Second Outline Level</a:t>
            </a:r>
          </a:p>
          <a:p>
            <a:pPr marL="1485900" lvl="2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Third Outline Level</a:t>
            </a:r>
          </a:p>
          <a:p>
            <a:pPr marL="1943100" lvl="3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Fourth Outline Level</a:t>
            </a:r>
          </a:p>
          <a:p>
            <a:pPr marL="1485900" lvl="2" indent="-342900">
              <a:buClr>
                <a:srgbClr val="000000"/>
              </a:buClr>
              <a:buSzPct val="75000"/>
            </a:pP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400" b="0" i="1" strike="noStrike" spc="-1" dirty="0">
              <a:latin typeface="Times New Roman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360" y="63972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1409A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35"/>
          <p:cNvPicPr/>
          <p:nvPr/>
        </p:nvPicPr>
        <p:blipFill>
          <a:blip r:embed="rId14"/>
          <a:stretch/>
        </p:blipFill>
        <p:spPr>
          <a:xfrm>
            <a:off x="9141120" y="0"/>
            <a:ext cx="914400" cy="733680"/>
          </a:xfrm>
          <a:prstGeom prst="rect">
            <a:avLst/>
          </a:prstGeom>
          <a:ln w="9360">
            <a:noFill/>
          </a:ln>
        </p:spPr>
      </p:pic>
      <p:pic>
        <p:nvPicPr>
          <p:cNvPr id="4" name="Picture 24"/>
          <p:cNvPicPr/>
          <p:nvPr/>
        </p:nvPicPr>
        <p:blipFill>
          <a:blip r:embed="rId15"/>
          <a:stretch/>
        </p:blipFill>
        <p:spPr>
          <a:xfrm>
            <a:off x="91080" y="18360"/>
            <a:ext cx="840600" cy="713160"/>
          </a:xfrm>
          <a:prstGeom prst="rect">
            <a:avLst/>
          </a:prstGeom>
          <a:ln w="9360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91080" y="5485680"/>
            <a:ext cx="457056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 dirty="0">
                <a:latin typeface="Times New Roman"/>
              </a:rPr>
              <a:t>Verification Presentation for </a:t>
            </a:r>
            <a:r>
              <a:rPr lang="en-US" sz="1100" b="1" strike="noStrike" spc="-1" dirty="0">
                <a:solidFill>
                  <a:srgbClr val="C9211E"/>
                </a:solidFill>
                <a:latin typeface="Times New Roman"/>
              </a:rPr>
              <a:t>TEMPLATE</a:t>
            </a:r>
            <a:r>
              <a:rPr lang="en-US" sz="1100" b="1" strike="noStrike" spc="-1" dirty="0">
                <a:latin typeface="Times New Roman"/>
              </a:rPr>
              <a:t> – </a:t>
            </a:r>
            <a:fld id="{B5F7AE96-06C3-4A71-BA82-A38A56114DC0}" type="author">
              <a:rPr lang="en-US" sz="1100" b="1" strike="noStrike" spc="-1">
                <a:latin typeface="Times New Roman"/>
              </a:rPr>
              <a:t>Gary Turner</a:t>
            </a:fld>
            <a:endParaRPr lang="en-US" sz="1100" b="0" strike="noStrike" spc="-1" dirty="0"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7680" y="5485680"/>
            <a:ext cx="557604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100" b="1" strike="noStrike" spc="-1">
                <a:latin typeface="Times New Roman"/>
              </a:rPr>
              <a:t>Slide </a:t>
            </a:r>
            <a:fld id="{FCD10905-8E8B-4818-8309-30653CDF43A3}" type="slidenum">
              <a:rPr lang="en-US" sz="1100" b="1" strike="noStrike" spc="-1">
                <a:latin typeface="Times New Roman"/>
              </a:rPr>
              <a:t>‹#›</a:t>
            </a:fld>
            <a:r>
              <a:rPr lang="en-US" sz="1100" b="1" strike="noStrike" spc="-1">
                <a:latin typeface="Times New Roman"/>
              </a:rPr>
              <a:t> of </a:t>
            </a:r>
            <a:fld id="{FF3B718B-3C84-4D8D-8487-F4C1E6B4F0DC}" type="slidecount">
              <a:rPr lang="en-US" sz="1100" b="1" strike="noStrike" spc="-1">
                <a:latin typeface="Times New Roman"/>
              </a:rPr>
              <a:t>&lt;count&gt;</a:t>
            </a:fld>
            <a:endParaRPr lang="en-US" sz="11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§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750" indent="-28575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 hidden="1"/>
          <p:cNvSpPr/>
          <p:nvPr/>
        </p:nvSpPr>
        <p:spPr>
          <a:xfrm>
            <a:off x="4426200" y="5469840"/>
            <a:ext cx="1060200" cy="982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Page </a:t>
            </a:r>
            <a:fld id="{3409D930-2287-41B3-921B-0387F4C9F349}" type="slidenum"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sp>
        <p:nvSpPr>
          <p:cNvPr id="44" name="CustomShape 2" hidden="1"/>
          <p:cNvSpPr/>
          <p:nvPr/>
        </p:nvSpPr>
        <p:spPr>
          <a:xfrm>
            <a:off x="24120" y="5490360"/>
            <a:ext cx="4096800" cy="172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Model V&amp;V – &lt;Model Name&gt; – &lt;Team&gt;– &lt;Sim Version&gt;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45" name="CustomShape 3" hidden="1"/>
          <p:cNvSpPr/>
          <p:nvPr/>
        </p:nvSpPr>
        <p:spPr>
          <a:xfrm>
            <a:off x="360" y="63720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0A128C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CustomShape 4" hidden="1"/>
          <p:cNvSpPr/>
          <p:nvPr/>
        </p:nvSpPr>
        <p:spPr>
          <a:xfrm>
            <a:off x="8105400" y="659520"/>
            <a:ext cx="1243800" cy="210240"/>
          </a:xfrm>
          <a:prstGeom prst="rect">
            <a:avLst/>
          </a:prstGeom>
          <a:noFill/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Orion Project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47" name="Picture 24"/>
          <p:cNvPicPr/>
          <p:nvPr/>
        </p:nvPicPr>
        <p:blipFill>
          <a:blip r:embed="rId14"/>
          <a:stretch/>
        </p:blipFill>
        <p:spPr>
          <a:xfrm>
            <a:off x="72720" y="18000"/>
            <a:ext cx="1112760" cy="700920"/>
          </a:xfrm>
          <a:prstGeom prst="rect">
            <a:avLst/>
          </a:prstGeom>
          <a:ln w="9360">
            <a:noFill/>
          </a:ln>
        </p:spPr>
      </p:pic>
      <p:pic>
        <p:nvPicPr>
          <p:cNvPr id="48" name="Picture 35"/>
          <p:cNvPicPr/>
          <p:nvPr/>
        </p:nvPicPr>
        <p:blipFill>
          <a:blip r:embed="rId15"/>
          <a:stretch/>
        </p:blipFill>
        <p:spPr>
          <a:xfrm>
            <a:off x="8939520" y="0"/>
            <a:ext cx="1116000" cy="733680"/>
          </a:xfrm>
          <a:prstGeom prst="rect">
            <a:avLst/>
          </a:prstGeom>
          <a:ln w="9360">
            <a:noFill/>
          </a:ln>
        </p:spPr>
      </p:pic>
      <p:pic>
        <p:nvPicPr>
          <p:cNvPr id="49" name="Picture 4"/>
          <p:cNvPicPr/>
          <p:nvPr/>
        </p:nvPicPr>
        <p:blipFill>
          <a:blip r:embed="rId16"/>
          <a:stretch/>
        </p:blipFill>
        <p:spPr>
          <a:xfrm>
            <a:off x="0" y="0"/>
            <a:ext cx="10055880" cy="56534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34"/>
          <p:cNvPicPr/>
          <p:nvPr/>
        </p:nvPicPr>
        <p:blipFill>
          <a:blip r:embed="rId14"/>
          <a:stretch/>
        </p:blipFill>
        <p:spPr>
          <a:xfrm>
            <a:off x="213120" y="143640"/>
            <a:ext cx="1112760" cy="861840"/>
          </a:xfrm>
          <a:prstGeom prst="rect">
            <a:avLst/>
          </a:prstGeom>
          <a:ln w="9360">
            <a:noFill/>
          </a:ln>
        </p:spPr>
      </p:pic>
      <p:pic>
        <p:nvPicPr>
          <p:cNvPr id="51" name="Picture 35"/>
          <p:cNvPicPr/>
          <p:nvPr/>
        </p:nvPicPr>
        <p:blipFill>
          <a:blip r:embed="rId15"/>
          <a:stretch/>
        </p:blipFill>
        <p:spPr>
          <a:xfrm>
            <a:off x="209520" y="3341880"/>
            <a:ext cx="1116000" cy="733680"/>
          </a:xfrm>
          <a:prstGeom prst="rect">
            <a:avLst/>
          </a:prstGeom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64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6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5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93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32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69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4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6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1427040" y="1033920"/>
            <a:ext cx="7580160" cy="41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V&amp;V Results for </a:t>
            </a:r>
            <a:r>
              <a:rPr lang="en-US" sz="2800" b="1" strike="noStrike" spc="-1">
                <a:solidFill>
                  <a:srgbClr val="C9211E"/>
                </a:solidFill>
                <a:latin typeface="Arial"/>
                <a:ea typeface="ＭＳ Ｐゴシック"/>
              </a:rPr>
              <a:t>&lt;Model Name&gt;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2717640" y="4399200"/>
            <a:ext cx="715752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01954236-2A47-40B5-B849-C67F20AA2376}" type="author"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Gary Turner</a:t>
            </a:fld>
            <a:endParaRPr lang="en-US" sz="1500" b="0" strike="noStrike" spc="-1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C9211E"/>
                </a:solidFill>
                <a:latin typeface="Arial"/>
                <a:ea typeface="ＭＳ Ｐゴシック"/>
              </a:rPr>
              <a:t>Organization (</a:t>
            </a: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Odyssey Space Research</a:t>
            </a:r>
            <a:endParaRPr lang="en-US" sz="1500" b="0" strike="noStrike" spc="-1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Date: </a:t>
            </a:r>
            <a:fld id="{15A66493-A20E-4807-87CB-3450BAC0E276}" type="datetime"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9/18/25</a:t>
            </a:fld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(version 1) –  </a:t>
            </a:r>
            <a:fld id="{828B8B43-DAEA-4298-8040-BA23F5AF6FBD}" type="datetime"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9/18/25</a:t>
            </a:fld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(latest)</a:t>
            </a:r>
            <a:endParaRPr lang="en-US" sz="1500" b="0" strike="noStrike" spc="-1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>
              <a:solidFill>
                <a:srgbClr val="C9211E"/>
              </a:solidFill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136800" y="4399200"/>
            <a:ext cx="255960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Artemis 2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Model V&amp;V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Outline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389880" cy="44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 and Use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Assumptions and Limitations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Project Status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Location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Associated Merge Requests and Commit Hashes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Inheritance and Dependencies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Inventory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Coding Standards Compliance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Architecture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Code Coverage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/ Validation Test Descriptions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Follow-on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Purpose and Use</a:t>
            </a: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latin typeface="Times New Roman"/>
              </a:rPr>
              <a:t>Purpose: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latin typeface="Times New Roman"/>
              </a:rPr>
              <a:t> 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latin typeface="Times New Roman"/>
              </a:rPr>
              <a:t>Models Using this Model: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latin typeface="Times New Roman"/>
              </a:rPr>
              <a:t> 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latin typeface="Times New Roman"/>
              </a:rPr>
              <a:t>Assumptions and Limitations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None</a:t>
            </a:r>
            <a:endParaRPr lang="en-US" sz="18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Antares Project Status</a:t>
            </a: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Top-level Related Requirements</a:t>
            </a:r>
          </a:p>
          <a:p>
            <a:pPr marL="109800" lvl="1">
              <a:spcBef>
                <a:spcPts val="357"/>
              </a:spcBef>
              <a:buClr>
                <a:srgbClr val="000000"/>
              </a:buClr>
              <a:buSzPct val="45000"/>
            </a:pPr>
            <a:r>
              <a:rPr lang="en-US" sz="100" b="0" strike="noStrike" spc="-1" dirty="0">
                <a:latin typeface="Times New Roman"/>
              </a:rPr>
              <a:t>Model Locations: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</a:t>
            </a:r>
            <a:r>
              <a:rPr lang="en-US" sz="2200" spc="-1" dirty="0">
                <a:latin typeface="Times New Roman"/>
              </a:rPr>
              <a:t>Locations: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latin typeface="Times New Roman"/>
            </a:endParaRPr>
          </a:p>
          <a:p>
            <a:pPr marL="429840" lvl="1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endParaRPr lang="en-US" sz="100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Recent Merge Requests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Most Recent Commit Hash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C9211E"/>
                </a:solidFill>
                <a:latin typeface="Times New Roman"/>
              </a:rPr>
              <a:t> </a:t>
            </a:r>
            <a:endParaRPr lang="en-US" sz="18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Inheritance and Dependencies</a:t>
            </a: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latin typeface="Times New Roman"/>
              </a:rPr>
              <a:t>Code Inheritance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800" b="0" strike="noStrike" spc="-1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latin typeface="Times New Roman"/>
              </a:rPr>
              <a:t>Code Dependencies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8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Inventory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latin typeface="Times New Roman"/>
              </a:rPr>
              <a:t>Documentation (docs/)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latin typeface="Times New Roman"/>
              </a:rPr>
              <a:t> 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latin typeface="Times New Roman"/>
              </a:rPr>
              <a:t>Headers (include/)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latin typeface="Times New Roman"/>
              </a:rPr>
              <a:t> 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latin typeface="Times New Roman"/>
              </a:rPr>
              <a:t>Source code (src/)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latin typeface="Times New Roman"/>
              </a:rPr>
              <a:t> </a:t>
            </a: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93596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latin typeface="Times New Roman"/>
              </a:rPr>
              <a:t>Verification (verif/)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latin typeface="Times New Roman"/>
              </a:rPr>
              <a:t>SIM_verif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>
                <a:latin typeface="Times New Roman"/>
              </a:rPr>
              <a:t> 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latin typeface="Times New Roman"/>
              </a:rPr>
              <a:t>Validation (validation/)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latin typeface="Times New Roman"/>
              </a:rPr>
              <a:t>None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  <a:ea typeface="Noto Sans CJK SC"/>
              </a:rPr>
              <a:t>Code Review : </a:t>
            </a: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Coding Standards Compliance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Model is compliant</a:t>
            </a:r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Architecture Review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2200" b="0" strike="noStrike" spc="-1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8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Code Coverage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Initial Project Implementation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Verification: SIM_verif</a:t>
            </a: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59796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Follow-on Work</a:t>
            </a: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4570</TotalTime>
  <Words>186</Words>
  <Application>Microsoft Macintosh PowerPoint</Application>
  <PresentationFormat>Custom</PresentationFormat>
  <Paragraphs>68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Courier New</vt:lpstr>
      <vt:lpstr>Symbol</vt:lpstr>
      <vt:lpstr>Times New Roman</vt:lpstr>
      <vt:lpstr>Wingdings</vt:lpstr>
      <vt:lpstr>Wingdings 3</vt:lpstr>
      <vt:lpstr>Office Theme</vt:lpstr>
      <vt:lpstr>Office Theme</vt:lpstr>
      <vt:lpstr>PowerPoint Presentation</vt:lpstr>
      <vt:lpstr>Outline</vt:lpstr>
      <vt:lpstr>Model Purpose and Use</vt:lpstr>
      <vt:lpstr>Antares Project Status</vt:lpstr>
      <vt:lpstr>Code Inheritance and Dependencies</vt:lpstr>
      <vt:lpstr>Model Inventory</vt:lpstr>
      <vt:lpstr>Code Review : Coding Standards Compliance</vt:lpstr>
      <vt:lpstr>Code Review : Architecture Review</vt:lpstr>
      <vt:lpstr>Code Review : Code Coverage </vt:lpstr>
      <vt:lpstr>Initial Project Implementation</vt:lpstr>
      <vt:lpstr>Verification: SIM_verif</vt:lpstr>
      <vt:lpstr>Follow-on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V&amp;V Presentation Template</dc:title>
  <dc:subject/>
  <dc:creator/>
  <dc:description/>
  <cp:lastModifiedBy>TURNER, GARY (JSC-EG211)[Odyssey Space Research L.L.C.]</cp:lastModifiedBy>
  <cp:revision>10</cp:revision>
  <dcterms:created xsi:type="dcterms:W3CDTF">2024-02-20T08:36:01Z</dcterms:created>
  <dcterms:modified xsi:type="dcterms:W3CDTF">2025-09-18T19:33:05Z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Gary Turner</vt:lpwstr>
  </property>
  <property fmtid="{D5CDD505-2E9C-101B-9397-08002B2CF9AE}" pid="3" name="Initial Date">
    <vt:lpwstr>February 2024</vt:lpwstr>
  </property>
  <property fmtid="{D5CDD505-2E9C-101B-9397-08002B2CF9AE}" pid="4" name="Organization">
    <vt:lpwstr>Odyssey Space Research</vt:lpwstr>
  </property>
</Properties>
</file>